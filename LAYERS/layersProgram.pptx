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40" r:id="rId2"/>
    <p:sldId id="358" r:id="rId3"/>
    <p:sldId id="363" r:id="rId4"/>
    <p:sldId id="364" r:id="rId5"/>
    <p:sldId id="365" r:id="rId6"/>
    <p:sldId id="366" r:id="rId7"/>
    <p:sldId id="367" r:id="rId8"/>
    <p:sldId id="359" r:id="rId9"/>
    <p:sldId id="360" r:id="rId10"/>
    <p:sldId id="361" r:id="rId11"/>
    <p:sldId id="362" r:id="rId12"/>
    <p:sldId id="303" r:id="rId13"/>
    <p:sldId id="31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05A5"/>
    <a:srgbClr val="590F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rman Marcus" userId="e1b747bf-662c-4b19-b20c-de5304a8f228" providerId="ADAL" clId="{2B85ED92-2F93-4EAD-BF2F-462562A39905}"/>
    <pc:docChg chg="undo custSel addSld delSld modSld">
      <pc:chgData name="Sherman Marcus" userId="e1b747bf-662c-4b19-b20c-de5304a8f228" providerId="ADAL" clId="{2B85ED92-2F93-4EAD-BF2F-462562A39905}" dt="2025-12-21T10:10:58.519" v="4471" actId="14100"/>
      <pc:docMkLst>
        <pc:docMk/>
      </pc:docMkLst>
      <pc:sldChg chg="addSp delSp modSp new mod">
        <pc:chgData name="Sherman Marcus" userId="e1b747bf-662c-4b19-b20c-de5304a8f228" providerId="ADAL" clId="{2B85ED92-2F93-4EAD-BF2F-462562A39905}" dt="2025-12-11T12:44:48.589" v="4317" actId="20577"/>
        <pc:sldMkLst>
          <pc:docMk/>
          <pc:sldMk cId="2364161385" sldId="363"/>
        </pc:sldMkLst>
        <pc:spChg chg="add mod">
          <ac:chgData name="Sherman Marcus" userId="e1b747bf-662c-4b19-b20c-de5304a8f228" providerId="ADAL" clId="{2B85ED92-2F93-4EAD-BF2F-462562A39905}" dt="2025-12-11T12:44:48.589" v="4317" actId="20577"/>
          <ac:spMkLst>
            <pc:docMk/>
            <pc:sldMk cId="2364161385" sldId="363"/>
            <ac:spMk id="6" creationId="{4DA15601-E56F-A862-A682-EF79337628CF}"/>
          </ac:spMkLst>
        </pc:spChg>
      </pc:sldChg>
      <pc:sldChg chg="addSp delSp modSp add mod">
        <pc:chgData name="Sherman Marcus" userId="e1b747bf-662c-4b19-b20c-de5304a8f228" providerId="ADAL" clId="{2B85ED92-2F93-4EAD-BF2F-462562A39905}" dt="2025-12-21T10:10:58.519" v="4471" actId="14100"/>
        <pc:sldMkLst>
          <pc:docMk/>
          <pc:sldMk cId="4027816944" sldId="364"/>
        </pc:sldMkLst>
        <pc:spChg chg="mod">
          <ac:chgData name="Sherman Marcus" userId="e1b747bf-662c-4b19-b20c-de5304a8f228" providerId="ADAL" clId="{2B85ED92-2F93-4EAD-BF2F-462562A39905}" dt="2025-12-21T10:06:22.496" v="4463" actId="20577"/>
          <ac:spMkLst>
            <pc:docMk/>
            <pc:sldMk cId="4027816944" sldId="364"/>
            <ac:spMk id="6" creationId="{38E7B5DC-2B11-EB3B-94BA-925ED6BB1EE1}"/>
          </ac:spMkLst>
        </pc:spChg>
        <pc:cxnChg chg="mod">
          <ac:chgData name="Sherman Marcus" userId="e1b747bf-662c-4b19-b20c-de5304a8f228" providerId="ADAL" clId="{2B85ED92-2F93-4EAD-BF2F-462562A39905}" dt="2025-12-21T10:06:04.095" v="4462" actId="14100"/>
          <ac:cxnSpMkLst>
            <pc:docMk/>
            <pc:sldMk cId="4027816944" sldId="364"/>
            <ac:cxnSpMk id="13" creationId="{8EC62FFE-78C9-2A0C-2901-73BCAAEA4F3E}"/>
          </ac:cxnSpMkLst>
        </pc:cxnChg>
        <pc:cxnChg chg="mod">
          <ac:chgData name="Sherman Marcus" userId="e1b747bf-662c-4b19-b20c-de5304a8f228" providerId="ADAL" clId="{2B85ED92-2F93-4EAD-BF2F-462562A39905}" dt="2025-12-21T10:10:23.471" v="4469" actId="14100"/>
          <ac:cxnSpMkLst>
            <pc:docMk/>
            <pc:sldMk cId="4027816944" sldId="364"/>
            <ac:cxnSpMk id="16" creationId="{AF8BBF3C-136C-057B-7F77-601BB8C3397A}"/>
          </ac:cxnSpMkLst>
        </pc:cxnChg>
        <pc:cxnChg chg="mod">
          <ac:chgData name="Sherman Marcus" userId="e1b747bf-662c-4b19-b20c-de5304a8f228" providerId="ADAL" clId="{2B85ED92-2F93-4EAD-BF2F-462562A39905}" dt="2025-12-21T10:10:58.519" v="4471" actId="14100"/>
          <ac:cxnSpMkLst>
            <pc:docMk/>
            <pc:sldMk cId="4027816944" sldId="364"/>
            <ac:cxnSpMk id="22" creationId="{4CA8C21D-C0BE-C2DD-B0D3-396724A4B5C6}"/>
          </ac:cxnSpMkLst>
        </pc:cxnChg>
        <pc:cxnChg chg="mod">
          <ac:chgData name="Sherman Marcus" userId="e1b747bf-662c-4b19-b20c-de5304a8f228" providerId="ADAL" clId="{2B85ED92-2F93-4EAD-BF2F-462562A39905}" dt="2025-12-21T10:08:02.183" v="4465" actId="14100"/>
          <ac:cxnSpMkLst>
            <pc:docMk/>
            <pc:sldMk cId="4027816944" sldId="364"/>
            <ac:cxnSpMk id="24" creationId="{A18DC10B-BC33-B453-D3BD-D88E339D3DE4}"/>
          </ac:cxnSpMkLst>
        </pc:cxnChg>
        <pc:cxnChg chg="mod">
          <ac:chgData name="Sherman Marcus" userId="e1b747bf-662c-4b19-b20c-de5304a8f228" providerId="ADAL" clId="{2B85ED92-2F93-4EAD-BF2F-462562A39905}" dt="2025-12-21T10:09:48.718" v="4468" actId="14100"/>
          <ac:cxnSpMkLst>
            <pc:docMk/>
            <pc:sldMk cId="4027816944" sldId="364"/>
            <ac:cxnSpMk id="26" creationId="{80D4B574-102B-AE91-846D-8385D1CC34E2}"/>
          </ac:cxnSpMkLst>
        </pc:cxnChg>
        <pc:cxnChg chg="mod">
          <ac:chgData name="Sherman Marcus" userId="e1b747bf-662c-4b19-b20c-de5304a8f228" providerId="ADAL" clId="{2B85ED92-2F93-4EAD-BF2F-462562A39905}" dt="2025-12-21T10:08:28.935" v="4466" actId="14100"/>
          <ac:cxnSpMkLst>
            <pc:docMk/>
            <pc:sldMk cId="4027816944" sldId="364"/>
            <ac:cxnSpMk id="28" creationId="{C91DB351-111A-8138-584B-A6E83D00DA5A}"/>
          </ac:cxnSpMkLst>
        </pc:cxnChg>
        <pc:cxnChg chg="mod">
          <ac:chgData name="Sherman Marcus" userId="e1b747bf-662c-4b19-b20c-de5304a8f228" providerId="ADAL" clId="{2B85ED92-2F93-4EAD-BF2F-462562A39905}" dt="2025-12-21T10:10:40.415" v="4470" actId="14100"/>
          <ac:cxnSpMkLst>
            <pc:docMk/>
            <pc:sldMk cId="4027816944" sldId="364"/>
            <ac:cxnSpMk id="30" creationId="{BDD15FC8-396A-5CCB-8AC3-45AF27A8A81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2BEB7-486D-4B8A-A59C-CF7F0153FF7C}"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E15FA-DAFF-4A75-8245-DE0C9107977D}" type="slidenum">
              <a:rPr lang="en-US" smtClean="0"/>
              <a:t>‹#›</a:t>
            </a:fld>
            <a:endParaRPr lang="en-US"/>
          </a:p>
        </p:txBody>
      </p:sp>
    </p:spTree>
    <p:extLst>
      <p:ext uri="{BB962C8B-B14F-4D97-AF65-F5344CB8AC3E}">
        <p14:creationId xmlns:p14="http://schemas.microsoft.com/office/powerpoint/2010/main" val="415778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E15FA-DAFF-4A75-8245-DE0C9107977D}" type="slidenum">
              <a:rPr lang="en-US" smtClean="0"/>
              <a:t>6</a:t>
            </a:fld>
            <a:endParaRPr lang="en-US"/>
          </a:p>
        </p:txBody>
      </p:sp>
    </p:spTree>
    <p:extLst>
      <p:ext uri="{BB962C8B-B14F-4D97-AF65-F5344CB8AC3E}">
        <p14:creationId xmlns:p14="http://schemas.microsoft.com/office/powerpoint/2010/main" val="1388167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1DEC-5C53-5F60-BB76-F9681DA9B2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4F429E-2F50-AA4A-87EB-D0032E8B83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6DB389-57B4-EF49-0C12-7483B989B0D9}"/>
              </a:ext>
            </a:extLst>
          </p:cNvPr>
          <p:cNvSpPr>
            <a:spLocks noGrp="1"/>
          </p:cNvSpPr>
          <p:nvPr>
            <p:ph type="dt" sz="half" idx="10"/>
          </p:nvPr>
        </p:nvSpPr>
        <p:spPr/>
        <p:txBody>
          <a:bodyPr/>
          <a:lstStyle/>
          <a:p>
            <a:fld id="{D66771D7-37C2-43C9-9D3C-971CA7AB344D}" type="datetime1">
              <a:rPr lang="en-US" smtClean="0"/>
              <a:t>12/17/2025</a:t>
            </a:fld>
            <a:endParaRPr lang="en-US"/>
          </a:p>
        </p:txBody>
      </p:sp>
      <p:sp>
        <p:nvSpPr>
          <p:cNvPr id="5" name="Footer Placeholder 4">
            <a:extLst>
              <a:ext uri="{FF2B5EF4-FFF2-40B4-BE49-F238E27FC236}">
                <a16:creationId xmlns:a16="http://schemas.microsoft.com/office/drawing/2014/main" id="{1F305B11-D451-A703-7F06-353D1ACB1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3AAD2-3111-3FEE-286E-4C8CFBC4923F}"/>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3876405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81608-DE34-9724-E969-DF570202AA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8EBF71-486B-E255-A8FF-1C7BA3DD5B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EDA76F-5B09-5210-5C9E-66681FCB2A0C}"/>
              </a:ext>
            </a:extLst>
          </p:cNvPr>
          <p:cNvSpPr>
            <a:spLocks noGrp="1"/>
          </p:cNvSpPr>
          <p:nvPr>
            <p:ph type="dt" sz="half" idx="10"/>
          </p:nvPr>
        </p:nvSpPr>
        <p:spPr/>
        <p:txBody>
          <a:bodyPr/>
          <a:lstStyle/>
          <a:p>
            <a:fld id="{6E6E2B97-361D-4668-AC36-193209F24438}" type="datetime1">
              <a:rPr lang="en-US" smtClean="0"/>
              <a:t>12/17/2025</a:t>
            </a:fld>
            <a:endParaRPr lang="en-US"/>
          </a:p>
        </p:txBody>
      </p:sp>
      <p:sp>
        <p:nvSpPr>
          <p:cNvPr id="5" name="Footer Placeholder 4">
            <a:extLst>
              <a:ext uri="{FF2B5EF4-FFF2-40B4-BE49-F238E27FC236}">
                <a16:creationId xmlns:a16="http://schemas.microsoft.com/office/drawing/2014/main" id="{7EE0E7ED-8B10-344D-D262-DDD1770938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B5FB1F-D9D0-6156-8DF6-57B068E46CE4}"/>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1959080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62516-D1BF-081A-13E3-5A09410562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BF8FD9-2D66-184C-9864-8F3464CF24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7A1142-0DE3-6C58-4447-E9921A50303F}"/>
              </a:ext>
            </a:extLst>
          </p:cNvPr>
          <p:cNvSpPr>
            <a:spLocks noGrp="1"/>
          </p:cNvSpPr>
          <p:nvPr>
            <p:ph type="dt" sz="half" idx="10"/>
          </p:nvPr>
        </p:nvSpPr>
        <p:spPr/>
        <p:txBody>
          <a:bodyPr/>
          <a:lstStyle/>
          <a:p>
            <a:fld id="{F33851A6-16C9-4FB2-A525-26560D4472A4}" type="datetime1">
              <a:rPr lang="en-US" smtClean="0"/>
              <a:t>12/17/2025</a:t>
            </a:fld>
            <a:endParaRPr lang="en-US"/>
          </a:p>
        </p:txBody>
      </p:sp>
      <p:sp>
        <p:nvSpPr>
          <p:cNvPr id="5" name="Footer Placeholder 4">
            <a:extLst>
              <a:ext uri="{FF2B5EF4-FFF2-40B4-BE49-F238E27FC236}">
                <a16:creationId xmlns:a16="http://schemas.microsoft.com/office/drawing/2014/main" id="{52289A65-0CCF-FD7D-5D41-5F228E3F4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68BF93-BC0F-5261-5C18-1993CC2F426A}"/>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412997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F355C-8F1C-729B-1C4F-FC93C7CF9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11C927-88C1-ACD8-67E5-A5949B340A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D86693-A7E9-C735-76F4-8ED6A48E24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47023A-F0C8-9755-B798-B214F38170BA}"/>
              </a:ext>
            </a:extLst>
          </p:cNvPr>
          <p:cNvSpPr>
            <a:spLocks noGrp="1"/>
          </p:cNvSpPr>
          <p:nvPr>
            <p:ph type="dt" sz="half" idx="10"/>
          </p:nvPr>
        </p:nvSpPr>
        <p:spPr/>
        <p:txBody>
          <a:bodyPr/>
          <a:lstStyle/>
          <a:p>
            <a:fld id="{60D4063C-88F1-4D8B-B26A-AE63684207B7}" type="datetime1">
              <a:rPr lang="en-US" smtClean="0"/>
              <a:t>12/17/2025</a:t>
            </a:fld>
            <a:endParaRPr lang="en-US"/>
          </a:p>
        </p:txBody>
      </p:sp>
      <p:sp>
        <p:nvSpPr>
          <p:cNvPr id="6" name="Footer Placeholder 5">
            <a:extLst>
              <a:ext uri="{FF2B5EF4-FFF2-40B4-BE49-F238E27FC236}">
                <a16:creationId xmlns:a16="http://schemas.microsoft.com/office/drawing/2014/main" id="{3807ED2F-D8B4-18E0-E530-B29D2A8BA0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A487B6-4399-3608-61B5-89FFC1143AF3}"/>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1170390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4A415-CC8E-EA41-DE53-CDEA60212C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6E4A61-C050-1518-2835-E43DFCB4AC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8723FB-E862-2D13-3144-B98F6463DF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0435D3-A984-DE2D-6A61-C4DD4F26A2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F63E8-5651-0C16-D45D-27471EFABF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A02F6C-BF25-A063-40A7-DA0F0C39AEA4}"/>
              </a:ext>
            </a:extLst>
          </p:cNvPr>
          <p:cNvSpPr>
            <a:spLocks noGrp="1"/>
          </p:cNvSpPr>
          <p:nvPr>
            <p:ph type="dt" sz="half" idx="10"/>
          </p:nvPr>
        </p:nvSpPr>
        <p:spPr/>
        <p:txBody>
          <a:bodyPr/>
          <a:lstStyle/>
          <a:p>
            <a:fld id="{67D0266F-CE30-402C-9B61-8A48366FD603}" type="datetime1">
              <a:rPr lang="en-US" smtClean="0"/>
              <a:t>12/17/2025</a:t>
            </a:fld>
            <a:endParaRPr lang="en-US"/>
          </a:p>
        </p:txBody>
      </p:sp>
      <p:sp>
        <p:nvSpPr>
          <p:cNvPr id="8" name="Footer Placeholder 7">
            <a:extLst>
              <a:ext uri="{FF2B5EF4-FFF2-40B4-BE49-F238E27FC236}">
                <a16:creationId xmlns:a16="http://schemas.microsoft.com/office/drawing/2014/main" id="{C539BCC5-1FFC-F1C0-0DA7-1381714303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88ACBF-7AF3-6325-06CF-4D582323590E}"/>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140123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6C10-37E9-CB60-B95F-256CFBC5BE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493906-E275-EC15-192F-A41BF4842C76}"/>
              </a:ext>
            </a:extLst>
          </p:cNvPr>
          <p:cNvSpPr>
            <a:spLocks noGrp="1"/>
          </p:cNvSpPr>
          <p:nvPr>
            <p:ph type="dt" sz="half" idx="10"/>
          </p:nvPr>
        </p:nvSpPr>
        <p:spPr/>
        <p:txBody>
          <a:bodyPr/>
          <a:lstStyle/>
          <a:p>
            <a:fld id="{D5BE659A-BEEA-4E37-B64C-4AF59367D072}" type="datetime1">
              <a:rPr lang="en-US" smtClean="0"/>
              <a:t>12/17/2025</a:t>
            </a:fld>
            <a:endParaRPr lang="en-US"/>
          </a:p>
        </p:txBody>
      </p:sp>
      <p:sp>
        <p:nvSpPr>
          <p:cNvPr id="4" name="Footer Placeholder 3">
            <a:extLst>
              <a:ext uri="{FF2B5EF4-FFF2-40B4-BE49-F238E27FC236}">
                <a16:creationId xmlns:a16="http://schemas.microsoft.com/office/drawing/2014/main" id="{5450B8AF-CD11-5776-F663-26DDD3F25F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734AEC-407C-0201-D465-73ED199FB296}"/>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340000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662641-DA28-57A3-6167-710AD8FA6F14}"/>
              </a:ext>
            </a:extLst>
          </p:cNvPr>
          <p:cNvSpPr>
            <a:spLocks noGrp="1"/>
          </p:cNvSpPr>
          <p:nvPr>
            <p:ph type="dt" sz="half" idx="10"/>
          </p:nvPr>
        </p:nvSpPr>
        <p:spPr/>
        <p:txBody>
          <a:bodyPr/>
          <a:lstStyle/>
          <a:p>
            <a:fld id="{AD296169-1D49-41BC-8380-30CEC508D540}" type="datetime1">
              <a:rPr lang="en-US" smtClean="0"/>
              <a:t>12/17/2025</a:t>
            </a:fld>
            <a:endParaRPr lang="en-US"/>
          </a:p>
        </p:txBody>
      </p:sp>
      <p:sp>
        <p:nvSpPr>
          <p:cNvPr id="3" name="Footer Placeholder 2">
            <a:extLst>
              <a:ext uri="{FF2B5EF4-FFF2-40B4-BE49-F238E27FC236}">
                <a16:creationId xmlns:a16="http://schemas.microsoft.com/office/drawing/2014/main" id="{45B54F21-AB12-57E5-BD39-BF88D30F5F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A3794C-6B5B-EBA6-5356-35F9E38A20F3}"/>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65315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F56AD-F020-4922-75DE-C7DD7A56AA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A0D7E3-C611-6B94-2772-B872F70F1C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7C6CE1-0D5C-14AE-80F1-9BC26DBBA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42A23-A79C-F17F-3C67-CC9BAFAC0BC3}"/>
              </a:ext>
            </a:extLst>
          </p:cNvPr>
          <p:cNvSpPr>
            <a:spLocks noGrp="1"/>
          </p:cNvSpPr>
          <p:nvPr>
            <p:ph type="dt" sz="half" idx="10"/>
          </p:nvPr>
        </p:nvSpPr>
        <p:spPr/>
        <p:txBody>
          <a:bodyPr/>
          <a:lstStyle/>
          <a:p>
            <a:fld id="{A48851C2-00C8-463A-8836-6BBF7C27608A}" type="datetime1">
              <a:rPr lang="en-US" smtClean="0"/>
              <a:t>12/17/2025</a:t>
            </a:fld>
            <a:endParaRPr lang="en-US"/>
          </a:p>
        </p:txBody>
      </p:sp>
      <p:sp>
        <p:nvSpPr>
          <p:cNvPr id="6" name="Footer Placeholder 5">
            <a:extLst>
              <a:ext uri="{FF2B5EF4-FFF2-40B4-BE49-F238E27FC236}">
                <a16:creationId xmlns:a16="http://schemas.microsoft.com/office/drawing/2014/main" id="{847A077D-28A2-8EC7-41EF-CBB26BF0E6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A1CA4D-2D4A-4C04-B169-7F0A62F5EE75}"/>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183249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F6852-AB16-DF4F-5A8D-0981A58D59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DDB995-0273-1EF6-5602-713FB21669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31E50E-9699-0794-9BFA-6C1B220BD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304B13-32D8-8332-BEF1-B4E7DF8A7A8F}"/>
              </a:ext>
            </a:extLst>
          </p:cNvPr>
          <p:cNvSpPr>
            <a:spLocks noGrp="1"/>
          </p:cNvSpPr>
          <p:nvPr>
            <p:ph type="dt" sz="half" idx="10"/>
          </p:nvPr>
        </p:nvSpPr>
        <p:spPr/>
        <p:txBody>
          <a:bodyPr/>
          <a:lstStyle/>
          <a:p>
            <a:fld id="{6ED251DA-C9FE-4B72-8800-C55166E2C1C4}" type="datetime1">
              <a:rPr lang="en-US" smtClean="0"/>
              <a:t>12/17/2025</a:t>
            </a:fld>
            <a:endParaRPr lang="en-US"/>
          </a:p>
        </p:txBody>
      </p:sp>
      <p:sp>
        <p:nvSpPr>
          <p:cNvPr id="6" name="Footer Placeholder 5">
            <a:extLst>
              <a:ext uri="{FF2B5EF4-FFF2-40B4-BE49-F238E27FC236}">
                <a16:creationId xmlns:a16="http://schemas.microsoft.com/office/drawing/2014/main" id="{86766143-E25E-81BA-F853-6271BD8736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57E8F5-C687-7001-D25A-9596AE21D568}"/>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51290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A6E8-35A4-94D7-955C-E1D3614ACB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FC390E-A541-6E30-F4C1-D56C26C3EF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2072E-4867-9625-C7C0-43385333AFFC}"/>
              </a:ext>
            </a:extLst>
          </p:cNvPr>
          <p:cNvSpPr>
            <a:spLocks noGrp="1"/>
          </p:cNvSpPr>
          <p:nvPr>
            <p:ph type="dt" sz="half" idx="10"/>
          </p:nvPr>
        </p:nvSpPr>
        <p:spPr/>
        <p:txBody>
          <a:bodyPr/>
          <a:lstStyle/>
          <a:p>
            <a:fld id="{CB1833CD-4661-48B3-B1DA-B97B52BED5DD}" type="datetime1">
              <a:rPr lang="en-US" smtClean="0"/>
              <a:t>12/17/2025</a:t>
            </a:fld>
            <a:endParaRPr lang="en-US"/>
          </a:p>
        </p:txBody>
      </p:sp>
      <p:sp>
        <p:nvSpPr>
          <p:cNvPr id="5" name="Footer Placeholder 4">
            <a:extLst>
              <a:ext uri="{FF2B5EF4-FFF2-40B4-BE49-F238E27FC236}">
                <a16:creationId xmlns:a16="http://schemas.microsoft.com/office/drawing/2014/main" id="{DD70605A-E280-C63B-9C51-365A6E457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387F4-F1EF-39FF-4007-1CB825A0D774}"/>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3120591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41B985-18F4-AC65-50CB-90E23F0F5A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681092-7159-17FB-3714-626527BE1A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5E424-E47B-BCB4-3CD0-A0024CA3319D}"/>
              </a:ext>
            </a:extLst>
          </p:cNvPr>
          <p:cNvSpPr>
            <a:spLocks noGrp="1"/>
          </p:cNvSpPr>
          <p:nvPr>
            <p:ph type="dt" sz="half" idx="10"/>
          </p:nvPr>
        </p:nvSpPr>
        <p:spPr/>
        <p:txBody>
          <a:bodyPr/>
          <a:lstStyle/>
          <a:p>
            <a:fld id="{8550801B-8A3E-4970-909B-A56EC0FE6870}" type="datetime1">
              <a:rPr lang="en-US" smtClean="0"/>
              <a:t>12/17/2025</a:t>
            </a:fld>
            <a:endParaRPr lang="en-US"/>
          </a:p>
        </p:txBody>
      </p:sp>
      <p:sp>
        <p:nvSpPr>
          <p:cNvPr id="5" name="Footer Placeholder 4">
            <a:extLst>
              <a:ext uri="{FF2B5EF4-FFF2-40B4-BE49-F238E27FC236}">
                <a16:creationId xmlns:a16="http://schemas.microsoft.com/office/drawing/2014/main" id="{BEF5346D-5E73-5829-CC97-9373EBAF1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94463-CB7B-F38A-BC28-FC5E7C3792D3}"/>
              </a:ext>
            </a:extLst>
          </p:cNvPr>
          <p:cNvSpPr>
            <a:spLocks noGrp="1"/>
          </p:cNvSpPr>
          <p:nvPr>
            <p:ph type="sldNum" sz="quarter" idx="12"/>
          </p:nvPr>
        </p:nvSpPr>
        <p:spPr/>
        <p:txBody>
          <a:bodyPr/>
          <a:lstStyle/>
          <a:p>
            <a:fld id="{4FBFB357-CE14-459F-A328-DF90B1D0644A}" type="slidenum">
              <a:rPr lang="en-US" smtClean="0"/>
              <a:t>‹#›</a:t>
            </a:fld>
            <a:endParaRPr lang="en-US"/>
          </a:p>
        </p:txBody>
      </p:sp>
    </p:spTree>
    <p:extLst>
      <p:ext uri="{BB962C8B-B14F-4D97-AF65-F5344CB8AC3E}">
        <p14:creationId xmlns:p14="http://schemas.microsoft.com/office/powerpoint/2010/main" val="2414819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BA04CD-F08B-7AED-4139-9EEC644E1C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107E47-EB95-D14B-A32D-1C6975121D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26FDF-2574-F3BA-B11E-C4E6B73836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3FD64-4C34-4686-BB5D-47384A901D40}" type="datetime1">
              <a:rPr lang="en-US" smtClean="0"/>
              <a:t>12/17/2025</a:t>
            </a:fld>
            <a:endParaRPr lang="en-US"/>
          </a:p>
        </p:txBody>
      </p:sp>
      <p:sp>
        <p:nvSpPr>
          <p:cNvPr id="5" name="Footer Placeholder 4">
            <a:extLst>
              <a:ext uri="{FF2B5EF4-FFF2-40B4-BE49-F238E27FC236}">
                <a16:creationId xmlns:a16="http://schemas.microsoft.com/office/drawing/2014/main" id="{F909F5F4-D8D6-CAC2-2DE1-C1F261A88F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E9C077-D5E1-D864-AA85-FD43CAC25A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BFB357-CE14-459F-A328-DF90B1D0644A}" type="slidenum">
              <a:rPr lang="en-US" smtClean="0"/>
              <a:t>‹#›</a:t>
            </a:fld>
            <a:endParaRPr lang="en-US"/>
          </a:p>
        </p:txBody>
      </p:sp>
    </p:spTree>
    <p:extLst>
      <p:ext uri="{BB962C8B-B14F-4D97-AF65-F5344CB8AC3E}">
        <p14:creationId xmlns:p14="http://schemas.microsoft.com/office/powerpoint/2010/main" val="3462956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6A19-F8A9-6F11-E149-92F812A05A85}"/>
              </a:ext>
            </a:extLst>
          </p:cNvPr>
          <p:cNvSpPr>
            <a:spLocks noGrp="1"/>
          </p:cNvSpPr>
          <p:nvPr>
            <p:ph type="ctrTitle"/>
          </p:nvPr>
        </p:nvSpPr>
        <p:spPr/>
        <p:txBody>
          <a:bodyPr/>
          <a:lstStyle/>
          <a:p>
            <a:r>
              <a:rPr lang="en-US" dirty="0"/>
              <a:t>Layers Program</a:t>
            </a:r>
          </a:p>
        </p:txBody>
      </p:sp>
      <p:sp>
        <p:nvSpPr>
          <p:cNvPr id="3" name="Subtitle 2">
            <a:extLst>
              <a:ext uri="{FF2B5EF4-FFF2-40B4-BE49-F238E27FC236}">
                <a16:creationId xmlns:a16="http://schemas.microsoft.com/office/drawing/2014/main" id="{4CBB5948-89DF-1153-CF8E-BCB18C4B392E}"/>
              </a:ext>
            </a:extLst>
          </p:cNvPr>
          <p:cNvSpPr>
            <a:spLocks noGrp="1"/>
          </p:cNvSpPr>
          <p:nvPr>
            <p:ph type="subTitle" idx="1"/>
          </p:nvPr>
        </p:nvSpPr>
        <p:spPr/>
        <p:txBody>
          <a:bodyPr/>
          <a:lstStyle/>
          <a:p>
            <a:r>
              <a:rPr lang="en-US" dirty="0"/>
              <a:t>Computation of </a:t>
            </a:r>
            <a:r>
              <a:rPr lang="en-US" dirty="0" err="1"/>
              <a:t>Floquet</a:t>
            </a:r>
            <a:r>
              <a:rPr lang="en-US" dirty="0"/>
              <a:t> Amplitudes and Scattered Fields from Periodic Arrays of Stacked Loaded Wires</a:t>
            </a:r>
          </a:p>
        </p:txBody>
      </p:sp>
      <p:sp>
        <p:nvSpPr>
          <p:cNvPr id="4" name="Slide Number Placeholder 3">
            <a:extLst>
              <a:ext uri="{FF2B5EF4-FFF2-40B4-BE49-F238E27FC236}">
                <a16:creationId xmlns:a16="http://schemas.microsoft.com/office/drawing/2014/main" id="{B28FC415-02BD-105D-403C-12C8CED87737}"/>
              </a:ext>
            </a:extLst>
          </p:cNvPr>
          <p:cNvSpPr>
            <a:spLocks noGrp="1"/>
          </p:cNvSpPr>
          <p:nvPr>
            <p:ph type="sldNum" sz="quarter" idx="12"/>
          </p:nvPr>
        </p:nvSpPr>
        <p:spPr/>
        <p:txBody>
          <a:bodyPr/>
          <a:lstStyle/>
          <a:p>
            <a:fld id="{4FBFB357-CE14-459F-A328-DF90B1D0644A}" type="slidenum">
              <a:rPr lang="en-US" smtClean="0"/>
              <a:t>1</a:t>
            </a:fld>
            <a:endParaRPr lang="en-US"/>
          </a:p>
        </p:txBody>
      </p:sp>
    </p:spTree>
    <p:extLst>
      <p:ext uri="{BB962C8B-B14F-4D97-AF65-F5344CB8AC3E}">
        <p14:creationId xmlns:p14="http://schemas.microsoft.com/office/powerpoint/2010/main" val="2764640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A189A0-2A01-82D4-3AE8-2DD8C65782A4}"/>
              </a:ext>
            </a:extLst>
          </p:cNvPr>
          <p:cNvSpPr>
            <a:spLocks noGrp="1"/>
          </p:cNvSpPr>
          <p:nvPr>
            <p:ph type="sldNum" sz="quarter" idx="12"/>
          </p:nvPr>
        </p:nvSpPr>
        <p:spPr/>
        <p:txBody>
          <a:bodyPr/>
          <a:lstStyle/>
          <a:p>
            <a:fld id="{4FBFB357-CE14-459F-A328-DF90B1D0644A}" type="slidenum">
              <a:rPr lang="en-US" smtClean="0"/>
              <a:t>2</a:t>
            </a:fld>
            <a:endParaRPr lang="en-US"/>
          </a:p>
        </p:txBody>
      </p:sp>
      <p:sp>
        <p:nvSpPr>
          <p:cNvPr id="5" name="TextBox 4">
            <a:extLst>
              <a:ext uri="{FF2B5EF4-FFF2-40B4-BE49-F238E27FC236}">
                <a16:creationId xmlns:a16="http://schemas.microsoft.com/office/drawing/2014/main" id="{D86F525E-B5B4-3E05-D4AA-DF2CDC1A4538}"/>
              </a:ext>
            </a:extLst>
          </p:cNvPr>
          <p:cNvSpPr txBox="1"/>
          <p:nvPr/>
        </p:nvSpPr>
        <p:spPr>
          <a:xfrm>
            <a:off x="1231271" y="-72412"/>
            <a:ext cx="1720159" cy="369332"/>
          </a:xfrm>
          <a:prstGeom prst="rect">
            <a:avLst/>
          </a:prstGeom>
          <a:noFill/>
        </p:spPr>
        <p:txBody>
          <a:bodyPr wrap="square" rtlCol="0">
            <a:spAutoFit/>
          </a:bodyPr>
          <a:lstStyle/>
          <a:p>
            <a:r>
              <a:rPr lang="en-US" dirty="0"/>
              <a:t>Within </a:t>
            </a:r>
            <a:r>
              <a:rPr lang="en-US" dirty="0" err="1"/>
              <a:t>Matlab</a:t>
            </a:r>
            <a:r>
              <a:rPr lang="en-US" dirty="0"/>
              <a:t> </a:t>
            </a:r>
          </a:p>
        </p:txBody>
      </p:sp>
      <p:sp>
        <p:nvSpPr>
          <p:cNvPr id="6" name="TextBox 5">
            <a:extLst>
              <a:ext uri="{FF2B5EF4-FFF2-40B4-BE49-F238E27FC236}">
                <a16:creationId xmlns:a16="http://schemas.microsoft.com/office/drawing/2014/main" id="{4C0EDDA4-7934-2F37-32EB-920599443460}"/>
              </a:ext>
            </a:extLst>
          </p:cNvPr>
          <p:cNvSpPr txBox="1"/>
          <p:nvPr/>
        </p:nvSpPr>
        <p:spPr>
          <a:xfrm>
            <a:off x="0" y="371221"/>
            <a:ext cx="4272897" cy="6463308"/>
          </a:xfrm>
          <a:prstGeom prst="rect">
            <a:avLst/>
          </a:prstGeom>
          <a:noFill/>
        </p:spPr>
        <p:txBody>
          <a:bodyPr wrap="square" rtlCol="0">
            <a:spAutoFit/>
          </a:bodyPr>
          <a:lstStyle/>
          <a:p>
            <a:r>
              <a:rPr lang="en-US" dirty="0"/>
              <a:t>Run </a:t>
            </a:r>
            <a:r>
              <a:rPr lang="en-US" dirty="0" err="1"/>
              <a:t>layers_App.mlapp</a:t>
            </a:r>
            <a:r>
              <a:rPr lang="en-US" dirty="0"/>
              <a:t> OR run </a:t>
            </a:r>
            <a:r>
              <a:rPr lang="en-US" dirty="0" err="1"/>
              <a:t>appdesigner</a:t>
            </a:r>
            <a:r>
              <a:rPr lang="en-US" dirty="0"/>
              <a:t> from command line , enter editor of </a:t>
            </a:r>
            <a:r>
              <a:rPr lang="en-US" dirty="0" err="1"/>
              <a:t>layers_App.mlapp</a:t>
            </a:r>
            <a:r>
              <a:rPr lang="en-US" dirty="0"/>
              <a:t>, and press the green arrow to run it.</a:t>
            </a:r>
          </a:p>
          <a:p>
            <a:endParaRPr lang="en-US" dirty="0"/>
          </a:p>
          <a:p>
            <a:r>
              <a:rPr lang="en-US" dirty="0"/>
              <a:t>From within </a:t>
            </a:r>
            <a:r>
              <a:rPr lang="en-US" dirty="0" err="1"/>
              <a:t>layers_App</a:t>
            </a:r>
            <a:r>
              <a:rPr lang="en-US" dirty="0"/>
              <a:t>: File &gt; Open &gt;       and choose a .</a:t>
            </a:r>
            <a:r>
              <a:rPr lang="en-US" dirty="0" err="1"/>
              <a:t>dat</a:t>
            </a:r>
            <a:r>
              <a:rPr lang="en-US" dirty="0"/>
              <a:t> file. (How to create the .</a:t>
            </a:r>
            <a:r>
              <a:rPr lang="en-US" dirty="0" err="1"/>
              <a:t>dat</a:t>
            </a:r>
            <a:r>
              <a:rPr lang="en-US" dirty="0"/>
              <a:t> file will be discussed elsewhere.)  Data and program files must be in the same folder. </a:t>
            </a:r>
          </a:p>
          <a:p>
            <a:endParaRPr lang="en-US" dirty="0"/>
          </a:p>
          <a:p>
            <a:r>
              <a:rPr lang="en-US" dirty="0"/>
              <a:t>IMPORTANT: wavelength=1, so almost all distances are relative to wavelength.</a:t>
            </a:r>
          </a:p>
          <a:p>
            <a:endParaRPr lang="en-US" dirty="0"/>
          </a:p>
          <a:p>
            <a:r>
              <a:rPr lang="en-US" dirty="0"/>
              <a:t>If the graphics get loused up, press the “redraw” button.</a:t>
            </a:r>
          </a:p>
          <a:p>
            <a:endParaRPr lang="en-US" dirty="0"/>
          </a:p>
          <a:p>
            <a:r>
              <a:rPr lang="en-US" dirty="0"/>
              <a:t>If the data file included information related to </a:t>
            </a:r>
            <a:r>
              <a:rPr lang="en-US" dirty="0" err="1"/>
              <a:t>Wk</a:t>
            </a:r>
            <a:r>
              <a:rPr lang="en-US" dirty="0"/>
              <a:t>, the </a:t>
            </a:r>
            <a:r>
              <a:rPr lang="en-US" dirty="0" err="1"/>
              <a:t>Wk</a:t>
            </a:r>
            <a:r>
              <a:rPr lang="en-US" dirty="0"/>
              <a:t> checkbox is checked.</a:t>
            </a:r>
          </a:p>
          <a:p>
            <a:endParaRPr lang="en-US" dirty="0"/>
          </a:p>
          <a:p>
            <a:r>
              <a:rPr lang="en-US" dirty="0"/>
              <a:t>To perform an exhaustive search, check </a:t>
            </a:r>
            <a:r>
              <a:rPr lang="en-US" dirty="0" err="1"/>
              <a:t>WkSym</a:t>
            </a:r>
            <a:r>
              <a:rPr lang="en-US" dirty="0"/>
              <a:t> checkbox if symmetric, fill in the distance, and click “Exhaustive”.</a:t>
            </a:r>
          </a:p>
        </p:txBody>
      </p:sp>
      <p:pic>
        <p:nvPicPr>
          <p:cNvPr id="7" name="Picture 6">
            <a:extLst>
              <a:ext uri="{FF2B5EF4-FFF2-40B4-BE49-F238E27FC236}">
                <a16:creationId xmlns:a16="http://schemas.microsoft.com/office/drawing/2014/main" id="{711DB0E7-EA4C-76EE-77A8-9FDE3DAE4DE1}"/>
              </a:ext>
            </a:extLst>
          </p:cNvPr>
          <p:cNvPicPr>
            <a:picLocks noChangeAspect="1"/>
          </p:cNvPicPr>
          <p:nvPr/>
        </p:nvPicPr>
        <p:blipFill>
          <a:blip r:embed="rId2"/>
          <a:stretch>
            <a:fillRect/>
          </a:stretch>
        </p:blipFill>
        <p:spPr>
          <a:xfrm>
            <a:off x="4272897" y="136525"/>
            <a:ext cx="7919103" cy="6858000"/>
          </a:xfrm>
          <a:prstGeom prst="rect">
            <a:avLst/>
          </a:prstGeom>
        </p:spPr>
      </p:pic>
      <p:cxnSp>
        <p:nvCxnSpPr>
          <p:cNvPr id="9" name="Straight Arrow Connector 8">
            <a:extLst>
              <a:ext uri="{FF2B5EF4-FFF2-40B4-BE49-F238E27FC236}">
                <a16:creationId xmlns:a16="http://schemas.microsoft.com/office/drawing/2014/main" id="{F5528417-9190-94FF-9EFF-7AD0D4D11F38}"/>
              </a:ext>
            </a:extLst>
          </p:cNvPr>
          <p:cNvCxnSpPr>
            <a:cxnSpLocks/>
          </p:cNvCxnSpPr>
          <p:nvPr/>
        </p:nvCxnSpPr>
        <p:spPr>
          <a:xfrm>
            <a:off x="3268301" y="4526733"/>
            <a:ext cx="4463358" cy="1186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7D13A88-76EA-B970-21DC-98A7AA0500C7}"/>
              </a:ext>
            </a:extLst>
          </p:cNvPr>
          <p:cNvCxnSpPr/>
          <p:nvPr/>
        </p:nvCxnSpPr>
        <p:spPr>
          <a:xfrm flipV="1">
            <a:off x="2951430" y="932507"/>
            <a:ext cx="1711105" cy="2496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4D4025C-3CA0-69C3-5C95-E3FE1CEBAC8E}"/>
              </a:ext>
            </a:extLst>
          </p:cNvPr>
          <p:cNvCxnSpPr>
            <a:cxnSpLocks/>
          </p:cNvCxnSpPr>
          <p:nvPr/>
        </p:nvCxnSpPr>
        <p:spPr>
          <a:xfrm flipV="1">
            <a:off x="3521798" y="2308634"/>
            <a:ext cx="7832002" cy="3078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AABFDB-EA48-4621-F8FE-17D90E3DC3CF}"/>
              </a:ext>
            </a:extLst>
          </p:cNvPr>
          <p:cNvCxnSpPr/>
          <p:nvPr/>
        </p:nvCxnSpPr>
        <p:spPr>
          <a:xfrm flipV="1">
            <a:off x="3902044" y="1566250"/>
            <a:ext cx="7532483" cy="4535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B9326FE-A2F0-FE39-1F83-286700620A17}"/>
              </a:ext>
            </a:extLst>
          </p:cNvPr>
          <p:cNvCxnSpPr>
            <a:cxnSpLocks/>
          </p:cNvCxnSpPr>
          <p:nvPr/>
        </p:nvCxnSpPr>
        <p:spPr>
          <a:xfrm flipV="1">
            <a:off x="923453" y="3920150"/>
            <a:ext cx="9913545" cy="2670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050CD5E-F737-D416-3B67-63BF1E582017}"/>
              </a:ext>
            </a:extLst>
          </p:cNvPr>
          <p:cNvCxnSpPr>
            <a:cxnSpLocks/>
          </p:cNvCxnSpPr>
          <p:nvPr/>
        </p:nvCxnSpPr>
        <p:spPr>
          <a:xfrm flipV="1">
            <a:off x="2951430" y="3938257"/>
            <a:ext cx="7206558" cy="2783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80DF71A-F66E-F8AF-9E0B-9C705FCE5B27}"/>
              </a:ext>
            </a:extLst>
          </p:cNvPr>
          <p:cNvCxnSpPr>
            <a:cxnSpLocks/>
          </p:cNvCxnSpPr>
          <p:nvPr/>
        </p:nvCxnSpPr>
        <p:spPr>
          <a:xfrm flipV="1">
            <a:off x="2181885" y="450821"/>
            <a:ext cx="2091012" cy="1749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C7F608A-F615-34CD-C1E7-D0154DDC28AE}"/>
              </a:ext>
            </a:extLst>
          </p:cNvPr>
          <p:cNvCxnSpPr/>
          <p:nvPr/>
        </p:nvCxnSpPr>
        <p:spPr>
          <a:xfrm flipV="1">
            <a:off x="2281473" y="1095469"/>
            <a:ext cx="2082297" cy="10773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1672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4413982-1306-0997-AEBC-E6EC2D004200}"/>
              </a:ext>
            </a:extLst>
          </p:cNvPr>
          <p:cNvPicPr>
            <a:picLocks noChangeAspect="1"/>
          </p:cNvPicPr>
          <p:nvPr/>
        </p:nvPicPr>
        <p:blipFill>
          <a:blip r:embed="rId2"/>
          <a:stretch>
            <a:fillRect/>
          </a:stretch>
        </p:blipFill>
        <p:spPr>
          <a:xfrm>
            <a:off x="4272897" y="136525"/>
            <a:ext cx="7919103" cy="6858000"/>
          </a:xfrm>
          <a:prstGeom prst="rect">
            <a:avLst/>
          </a:prstGeom>
        </p:spPr>
      </p:pic>
      <p:sp>
        <p:nvSpPr>
          <p:cNvPr id="4" name="Slide Number Placeholder 3">
            <a:extLst>
              <a:ext uri="{FF2B5EF4-FFF2-40B4-BE49-F238E27FC236}">
                <a16:creationId xmlns:a16="http://schemas.microsoft.com/office/drawing/2014/main" id="{8FD48409-9365-6A65-A2F3-2E9ABEAE7975}"/>
              </a:ext>
            </a:extLst>
          </p:cNvPr>
          <p:cNvSpPr>
            <a:spLocks noGrp="1"/>
          </p:cNvSpPr>
          <p:nvPr>
            <p:ph type="sldNum" sz="quarter" idx="12"/>
          </p:nvPr>
        </p:nvSpPr>
        <p:spPr/>
        <p:txBody>
          <a:bodyPr/>
          <a:lstStyle/>
          <a:p>
            <a:fld id="{4FBFB357-CE14-459F-A328-DF90B1D0644A}" type="slidenum">
              <a:rPr lang="en-US" smtClean="0"/>
              <a:t>3</a:t>
            </a:fld>
            <a:endParaRPr lang="en-US"/>
          </a:p>
        </p:txBody>
      </p:sp>
      <p:sp>
        <p:nvSpPr>
          <p:cNvPr id="6" name="TextBox 5">
            <a:extLst>
              <a:ext uri="{FF2B5EF4-FFF2-40B4-BE49-F238E27FC236}">
                <a16:creationId xmlns:a16="http://schemas.microsoft.com/office/drawing/2014/main" id="{4DA15601-E56F-A862-A682-EF79337628CF}"/>
              </a:ext>
            </a:extLst>
          </p:cNvPr>
          <p:cNvSpPr txBox="1"/>
          <p:nvPr/>
        </p:nvSpPr>
        <p:spPr>
          <a:xfrm>
            <a:off x="180729" y="452673"/>
            <a:ext cx="3839010" cy="6186309"/>
          </a:xfrm>
          <a:prstGeom prst="rect">
            <a:avLst/>
          </a:prstGeom>
          <a:noFill/>
        </p:spPr>
        <p:txBody>
          <a:bodyPr wrap="square" rtlCol="0">
            <a:spAutoFit/>
          </a:bodyPr>
          <a:lstStyle/>
          <a:p>
            <a:r>
              <a:rPr lang="en-US" dirty="0"/>
              <a:t>To get the curves representing the </a:t>
            </a:r>
            <a:r>
              <a:rPr lang="en-US" dirty="0" err="1"/>
              <a:t>Im</a:t>
            </a:r>
            <a:r>
              <a:rPr lang="en-US" dirty="0"/>
              <a:t>(Z) vs. </a:t>
            </a:r>
            <a:r>
              <a:rPr lang="en-US" dirty="0" err="1"/>
              <a:t>Wk</a:t>
            </a:r>
            <a:r>
              <a:rPr lang="en-US" dirty="0"/>
              <a:t> and Re(Z) vs. </a:t>
            </a:r>
            <a:r>
              <a:rPr lang="en-US" dirty="0" err="1"/>
              <a:t>Wk</a:t>
            </a:r>
            <a:r>
              <a:rPr lang="en-US" dirty="0"/>
              <a:t> for each layer, read the .</a:t>
            </a:r>
            <a:r>
              <a:rPr lang="en-US" dirty="0" err="1"/>
              <a:t>dat</a:t>
            </a:r>
            <a:r>
              <a:rPr lang="en-US" dirty="0"/>
              <a:t> file for the layer of interest (say ravIntface2.dat for interface 2). Preparation of such a file will be discussed separately. The resulting window is shown.</a:t>
            </a:r>
          </a:p>
          <a:p>
            <a:endParaRPr lang="en-US" dirty="0"/>
          </a:p>
          <a:p>
            <a:r>
              <a:rPr lang="en-US" dirty="0"/>
              <a:t>Click the "Ravi" checkbox. The user will be reminded to fix the period. Do this by entering the period in the edit box. In our case we entered .2041.  </a:t>
            </a:r>
            <a:r>
              <a:rPr lang="en-US"/>
              <a:t>In </a:t>
            </a:r>
            <a:r>
              <a:rPr lang="en-US" dirty="0"/>
              <a:t>the wire panel, enter the frequency (20 in our case). Click the “CST file” button to create a data file that CST can read. The file will have the same name as the current data file, but with “CST” added to its name (ravIntface2CST.dat).</a:t>
            </a:r>
          </a:p>
          <a:p>
            <a:r>
              <a:rPr lang="en-US" dirty="0"/>
              <a:t>In CST, all dimensions are in mm. </a:t>
            </a:r>
          </a:p>
          <a:p>
            <a:r>
              <a:rPr lang="en-US" dirty="0"/>
              <a:t>CST must now be run.</a:t>
            </a:r>
          </a:p>
          <a:p>
            <a:endParaRPr lang="en-US" dirty="0"/>
          </a:p>
          <a:p>
            <a:r>
              <a:rPr lang="en-US" dirty="0"/>
              <a:t>Continued…</a:t>
            </a:r>
          </a:p>
        </p:txBody>
      </p:sp>
      <p:cxnSp>
        <p:nvCxnSpPr>
          <p:cNvPr id="8" name="Straight Arrow Connector 7">
            <a:extLst>
              <a:ext uri="{FF2B5EF4-FFF2-40B4-BE49-F238E27FC236}">
                <a16:creationId xmlns:a16="http://schemas.microsoft.com/office/drawing/2014/main" id="{8625361C-36FC-20A3-A90E-FA73C53D9F8E}"/>
              </a:ext>
            </a:extLst>
          </p:cNvPr>
          <p:cNvCxnSpPr>
            <a:cxnSpLocks/>
          </p:cNvCxnSpPr>
          <p:nvPr/>
        </p:nvCxnSpPr>
        <p:spPr>
          <a:xfrm flipV="1">
            <a:off x="2716040" y="2290527"/>
            <a:ext cx="9026305" cy="543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F2874DA-BF86-98CF-5DA1-EFE642D444EE}"/>
              </a:ext>
            </a:extLst>
          </p:cNvPr>
          <p:cNvPicPr>
            <a:picLocks noChangeAspect="1"/>
          </p:cNvPicPr>
          <p:nvPr/>
        </p:nvPicPr>
        <p:blipFill>
          <a:blip r:embed="rId3"/>
          <a:stretch>
            <a:fillRect/>
          </a:stretch>
        </p:blipFill>
        <p:spPr>
          <a:xfrm>
            <a:off x="7229192" y="136525"/>
            <a:ext cx="2114550" cy="962025"/>
          </a:xfrm>
          <a:prstGeom prst="rect">
            <a:avLst/>
          </a:prstGeom>
        </p:spPr>
      </p:pic>
      <p:cxnSp>
        <p:nvCxnSpPr>
          <p:cNvPr id="12" name="Straight Arrow Connector 11">
            <a:extLst>
              <a:ext uri="{FF2B5EF4-FFF2-40B4-BE49-F238E27FC236}">
                <a16:creationId xmlns:a16="http://schemas.microsoft.com/office/drawing/2014/main" id="{80FABAC1-6DE4-A749-A2DB-A97B101A0945}"/>
              </a:ext>
            </a:extLst>
          </p:cNvPr>
          <p:cNvCxnSpPr>
            <a:cxnSpLocks/>
          </p:cNvCxnSpPr>
          <p:nvPr/>
        </p:nvCxnSpPr>
        <p:spPr>
          <a:xfrm flipV="1">
            <a:off x="3165695" y="941922"/>
            <a:ext cx="4602178" cy="2132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C170F23-B155-7559-8D7F-F85CC56D59B8}"/>
              </a:ext>
            </a:extLst>
          </p:cNvPr>
          <p:cNvCxnSpPr>
            <a:cxnSpLocks/>
          </p:cNvCxnSpPr>
          <p:nvPr/>
        </p:nvCxnSpPr>
        <p:spPr>
          <a:xfrm flipV="1">
            <a:off x="3897514" y="2784587"/>
            <a:ext cx="837448" cy="605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EF415BE-8862-D013-9854-2D871379F282}"/>
              </a:ext>
            </a:extLst>
          </p:cNvPr>
          <p:cNvCxnSpPr/>
          <p:nvPr/>
        </p:nvCxnSpPr>
        <p:spPr>
          <a:xfrm>
            <a:off x="3268301" y="3947311"/>
            <a:ext cx="1584356" cy="823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B212B5-76AC-7780-1EA0-C96919DFE0E4}"/>
              </a:ext>
            </a:extLst>
          </p:cNvPr>
          <p:cNvCxnSpPr/>
          <p:nvPr/>
        </p:nvCxnSpPr>
        <p:spPr>
          <a:xfrm flipV="1">
            <a:off x="3494638" y="1539089"/>
            <a:ext cx="7342360" cy="2820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161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BE48-1139-3D2D-6290-403C3A10422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D8534F6-6F18-F712-869F-7E9F14D108F7}"/>
              </a:ext>
            </a:extLst>
          </p:cNvPr>
          <p:cNvPicPr>
            <a:picLocks noChangeAspect="1"/>
          </p:cNvPicPr>
          <p:nvPr/>
        </p:nvPicPr>
        <p:blipFill>
          <a:blip r:embed="rId2"/>
          <a:stretch>
            <a:fillRect/>
          </a:stretch>
        </p:blipFill>
        <p:spPr>
          <a:xfrm>
            <a:off x="5137838" y="98380"/>
            <a:ext cx="3533775" cy="3819525"/>
          </a:xfrm>
          <a:prstGeom prst="rect">
            <a:avLst/>
          </a:prstGeom>
        </p:spPr>
      </p:pic>
      <p:sp>
        <p:nvSpPr>
          <p:cNvPr id="4" name="Slide Number Placeholder 3">
            <a:extLst>
              <a:ext uri="{FF2B5EF4-FFF2-40B4-BE49-F238E27FC236}">
                <a16:creationId xmlns:a16="http://schemas.microsoft.com/office/drawing/2014/main" id="{73F22E2F-F340-42E4-3AC7-4D5E6C4245A0}"/>
              </a:ext>
            </a:extLst>
          </p:cNvPr>
          <p:cNvSpPr>
            <a:spLocks noGrp="1"/>
          </p:cNvSpPr>
          <p:nvPr>
            <p:ph type="sldNum" sz="quarter" idx="12"/>
          </p:nvPr>
        </p:nvSpPr>
        <p:spPr/>
        <p:txBody>
          <a:bodyPr/>
          <a:lstStyle/>
          <a:p>
            <a:fld id="{4FBFB357-CE14-459F-A328-DF90B1D0644A}" type="slidenum">
              <a:rPr lang="en-US" smtClean="0"/>
              <a:t>4</a:t>
            </a:fld>
            <a:endParaRPr lang="en-US" dirty="0"/>
          </a:p>
        </p:txBody>
      </p:sp>
      <p:sp>
        <p:nvSpPr>
          <p:cNvPr id="6" name="TextBox 5">
            <a:extLst>
              <a:ext uri="{FF2B5EF4-FFF2-40B4-BE49-F238E27FC236}">
                <a16:creationId xmlns:a16="http://schemas.microsoft.com/office/drawing/2014/main" id="{38E7B5DC-2B11-EB3B-94BA-925ED6BB1EE1}"/>
              </a:ext>
            </a:extLst>
          </p:cNvPr>
          <p:cNvSpPr txBox="1"/>
          <p:nvPr/>
        </p:nvSpPr>
        <p:spPr>
          <a:xfrm>
            <a:off x="180729" y="-13671"/>
            <a:ext cx="3839010" cy="7017306"/>
          </a:xfrm>
          <a:prstGeom prst="rect">
            <a:avLst/>
          </a:prstGeom>
          <a:noFill/>
        </p:spPr>
        <p:txBody>
          <a:bodyPr wrap="square" rtlCol="0">
            <a:spAutoFit/>
          </a:bodyPr>
          <a:lstStyle/>
          <a:p>
            <a:r>
              <a:rPr lang="en-US" dirty="0"/>
              <a:t>A general CST file has been prepared called histlistIntface2.cst. The parameters in the Parameter List should not be changed, except possibly for </a:t>
            </a:r>
            <a:r>
              <a:rPr lang="en-US" dirty="0" err="1"/>
              <a:t>freqGHz</a:t>
            </a:r>
            <a:r>
              <a:rPr lang="en-US" dirty="0"/>
              <a:t> (20), </a:t>
            </a:r>
            <a:r>
              <a:rPr lang="en-US" dirty="0" err="1"/>
              <a:t>epsPCB</a:t>
            </a:r>
            <a:r>
              <a:rPr lang="en-US" dirty="0"/>
              <a:t> (dielectric constant of PCB (3), </a:t>
            </a:r>
            <a:r>
              <a:rPr lang="en-US" dirty="0" err="1"/>
              <a:t>tanDeltaPCB</a:t>
            </a:r>
            <a:r>
              <a:rPr lang="en-US" dirty="0"/>
              <a:t> (.001), </a:t>
            </a:r>
            <a:r>
              <a:rPr lang="en-US" dirty="0" err="1"/>
              <a:t>wirewidthmil</a:t>
            </a:r>
            <a:r>
              <a:rPr lang="en-US" dirty="0"/>
              <a:t> (4), </a:t>
            </a:r>
            <a:r>
              <a:rPr lang="en-US" dirty="0" err="1"/>
              <a:t>wgapmm</a:t>
            </a:r>
            <a:r>
              <a:rPr lang="en-US" dirty="0"/>
              <a:t> (</a:t>
            </a:r>
            <a:r>
              <a:rPr lang="en-US" dirty="0" err="1"/>
              <a:t>wirewidthmm</a:t>
            </a:r>
            <a:r>
              <a:rPr lang="en-US" dirty="0"/>
              <a:t>), L (.2041*lambda), </a:t>
            </a:r>
            <a:r>
              <a:rPr lang="en-US" dirty="0" err="1"/>
              <a:t>stripthickness</a:t>
            </a:r>
            <a:r>
              <a:rPr lang="en-US" dirty="0"/>
              <a:t> (.018), </a:t>
            </a:r>
            <a:r>
              <a:rPr lang="en-US" dirty="0" err="1"/>
              <a:t>isMetal</a:t>
            </a:r>
            <a:r>
              <a:rPr lang="en-US" dirty="0"/>
              <a:t> (1 to indicate copper). If the frequency is changed, the frequency limits for the .</a:t>
            </a:r>
            <a:r>
              <a:rPr lang="en-US" dirty="0" err="1"/>
              <a:t>cst</a:t>
            </a:r>
            <a:r>
              <a:rPr lang="en-US" dirty="0"/>
              <a:t> file would have to be changed. If a parameter has changed, or if the .</a:t>
            </a:r>
            <a:r>
              <a:rPr lang="en-US" dirty="0" err="1"/>
              <a:t>dat</a:t>
            </a:r>
            <a:r>
              <a:rPr lang="en-US" dirty="0"/>
              <a:t> file has changed, then a change is required in the History List. All the geometrical operations must be removed. That is, delete (Delete button) lines 45 to the end. Then press Update. Then, on the Home tab, click on VBA Macros, and choose </a:t>
            </a:r>
            <a:r>
              <a:rPr lang="en-US" dirty="0" err="1"/>
              <a:t>griddefWkHistListF</a:t>
            </a:r>
            <a:r>
              <a:rPr lang="en-US" dirty="0"/>
              <a:t> from the list. Choose the ravIntface2CST.dat from the list that appears. This results in</a:t>
            </a:r>
          </a:p>
          <a:p>
            <a:endParaRPr lang="en-US" dirty="0"/>
          </a:p>
          <a:p>
            <a:r>
              <a:rPr lang="en-US" dirty="0"/>
              <a:t>Continued…</a:t>
            </a:r>
          </a:p>
        </p:txBody>
      </p:sp>
      <p:pic>
        <p:nvPicPr>
          <p:cNvPr id="3" name="Picture 2">
            <a:extLst>
              <a:ext uri="{FF2B5EF4-FFF2-40B4-BE49-F238E27FC236}">
                <a16:creationId xmlns:a16="http://schemas.microsoft.com/office/drawing/2014/main" id="{52BFB450-44D4-F5B2-582B-9151C515AB38}"/>
              </a:ext>
            </a:extLst>
          </p:cNvPr>
          <p:cNvPicPr>
            <a:picLocks noChangeAspect="1"/>
          </p:cNvPicPr>
          <p:nvPr/>
        </p:nvPicPr>
        <p:blipFill>
          <a:blip r:embed="rId3"/>
          <a:srcRect l="58812" r="27599" b="32418"/>
          <a:stretch>
            <a:fillRect/>
          </a:stretch>
        </p:blipFill>
        <p:spPr>
          <a:xfrm>
            <a:off x="8961319" y="98380"/>
            <a:ext cx="1656785" cy="4463107"/>
          </a:xfrm>
          <a:prstGeom prst="rect">
            <a:avLst/>
          </a:prstGeom>
        </p:spPr>
      </p:pic>
      <p:pic>
        <p:nvPicPr>
          <p:cNvPr id="5" name="Picture 4">
            <a:extLst>
              <a:ext uri="{FF2B5EF4-FFF2-40B4-BE49-F238E27FC236}">
                <a16:creationId xmlns:a16="http://schemas.microsoft.com/office/drawing/2014/main" id="{55A880C9-EFA0-4DC5-5061-E890CDA513B3}"/>
              </a:ext>
            </a:extLst>
          </p:cNvPr>
          <p:cNvPicPr>
            <a:picLocks noChangeAspect="1"/>
          </p:cNvPicPr>
          <p:nvPr/>
        </p:nvPicPr>
        <p:blipFill>
          <a:blip r:embed="rId4"/>
          <a:srcRect l="38069" t="15370" b="51104"/>
          <a:stretch>
            <a:fillRect/>
          </a:stretch>
        </p:blipFill>
        <p:spPr>
          <a:xfrm>
            <a:off x="5116622" y="3964310"/>
            <a:ext cx="6111282" cy="1702052"/>
          </a:xfrm>
          <a:prstGeom prst="rect">
            <a:avLst/>
          </a:prstGeom>
        </p:spPr>
      </p:pic>
      <p:pic>
        <p:nvPicPr>
          <p:cNvPr id="9" name="Picture 8">
            <a:extLst>
              <a:ext uri="{FF2B5EF4-FFF2-40B4-BE49-F238E27FC236}">
                <a16:creationId xmlns:a16="http://schemas.microsoft.com/office/drawing/2014/main" id="{A35782BB-1684-38CA-60AB-C1CF41C7DCE5}"/>
              </a:ext>
            </a:extLst>
          </p:cNvPr>
          <p:cNvPicPr>
            <a:picLocks noChangeAspect="1"/>
          </p:cNvPicPr>
          <p:nvPr/>
        </p:nvPicPr>
        <p:blipFill>
          <a:blip r:embed="rId5"/>
          <a:srcRect l="76708" t="48400" b="4803"/>
          <a:stretch>
            <a:fillRect/>
          </a:stretch>
        </p:blipFill>
        <p:spPr>
          <a:xfrm>
            <a:off x="7469109" y="5504184"/>
            <a:ext cx="1492210" cy="1217291"/>
          </a:xfrm>
          <a:prstGeom prst="rect">
            <a:avLst/>
          </a:prstGeom>
        </p:spPr>
      </p:pic>
      <p:cxnSp>
        <p:nvCxnSpPr>
          <p:cNvPr id="13" name="Straight Arrow Connector 12">
            <a:extLst>
              <a:ext uri="{FF2B5EF4-FFF2-40B4-BE49-F238E27FC236}">
                <a16:creationId xmlns:a16="http://schemas.microsoft.com/office/drawing/2014/main" id="{8EC62FFE-78C9-2A0C-2901-73BCAAEA4F3E}"/>
              </a:ext>
            </a:extLst>
          </p:cNvPr>
          <p:cNvCxnSpPr>
            <a:cxnSpLocks/>
          </p:cNvCxnSpPr>
          <p:nvPr/>
        </p:nvCxnSpPr>
        <p:spPr>
          <a:xfrm>
            <a:off x="3566160" y="6208776"/>
            <a:ext cx="3785254" cy="65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F8BBF3C-136C-057B-7F77-601BB8C3397A}"/>
              </a:ext>
            </a:extLst>
          </p:cNvPr>
          <p:cNvCxnSpPr>
            <a:cxnSpLocks/>
          </p:cNvCxnSpPr>
          <p:nvPr/>
        </p:nvCxnSpPr>
        <p:spPr>
          <a:xfrm flipV="1">
            <a:off x="3099816" y="5260063"/>
            <a:ext cx="1861483" cy="637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CA8C21D-C0BE-C2DD-B0D3-396724A4B5C6}"/>
              </a:ext>
            </a:extLst>
          </p:cNvPr>
          <p:cNvCxnSpPr>
            <a:cxnSpLocks/>
          </p:cNvCxnSpPr>
          <p:nvPr/>
        </p:nvCxnSpPr>
        <p:spPr>
          <a:xfrm flipV="1">
            <a:off x="2807208" y="3530851"/>
            <a:ext cx="2309414" cy="1297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18DC10B-BC33-B453-D3BD-D88E339D3DE4}"/>
              </a:ext>
            </a:extLst>
          </p:cNvPr>
          <p:cNvCxnSpPr>
            <a:cxnSpLocks/>
          </p:cNvCxnSpPr>
          <p:nvPr/>
        </p:nvCxnSpPr>
        <p:spPr>
          <a:xfrm flipV="1">
            <a:off x="964096" y="1928388"/>
            <a:ext cx="6993900" cy="2899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0D4B574-102B-AE91-846D-8385D1CC34E2}"/>
              </a:ext>
            </a:extLst>
          </p:cNvPr>
          <p:cNvCxnSpPr>
            <a:cxnSpLocks/>
          </p:cNvCxnSpPr>
          <p:nvPr/>
        </p:nvCxnSpPr>
        <p:spPr>
          <a:xfrm flipV="1">
            <a:off x="964096" y="2797521"/>
            <a:ext cx="7247397" cy="2231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91DB351-111A-8138-584B-A6E83D00DA5A}"/>
              </a:ext>
            </a:extLst>
          </p:cNvPr>
          <p:cNvCxnSpPr>
            <a:cxnSpLocks/>
          </p:cNvCxnSpPr>
          <p:nvPr/>
        </p:nvCxnSpPr>
        <p:spPr>
          <a:xfrm flipV="1">
            <a:off x="1746504" y="878186"/>
            <a:ext cx="7214815" cy="4471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DD15FC8-396A-5CCB-8AC3-45AF27A8A810}"/>
              </a:ext>
            </a:extLst>
          </p:cNvPr>
          <p:cNvCxnSpPr>
            <a:cxnSpLocks/>
          </p:cNvCxnSpPr>
          <p:nvPr/>
        </p:nvCxnSpPr>
        <p:spPr>
          <a:xfrm flipV="1">
            <a:off x="2084832" y="3711921"/>
            <a:ext cx="6876487" cy="1954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7816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1E6A-DBB2-0277-B2D2-3D39E82201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C348E7-9133-65B3-6F85-90116B72154E}"/>
              </a:ext>
            </a:extLst>
          </p:cNvPr>
          <p:cNvSpPr>
            <a:spLocks noGrp="1"/>
          </p:cNvSpPr>
          <p:nvPr>
            <p:ph type="sldNum" sz="quarter" idx="12"/>
          </p:nvPr>
        </p:nvSpPr>
        <p:spPr/>
        <p:txBody>
          <a:bodyPr/>
          <a:lstStyle/>
          <a:p>
            <a:fld id="{4FBFB357-CE14-459F-A328-DF90B1D0644A}" type="slidenum">
              <a:rPr lang="en-US" smtClean="0"/>
              <a:t>5</a:t>
            </a:fld>
            <a:endParaRPr lang="en-US" dirty="0"/>
          </a:p>
        </p:txBody>
      </p:sp>
      <p:sp>
        <p:nvSpPr>
          <p:cNvPr id="6" name="TextBox 5">
            <a:extLst>
              <a:ext uri="{FF2B5EF4-FFF2-40B4-BE49-F238E27FC236}">
                <a16:creationId xmlns:a16="http://schemas.microsoft.com/office/drawing/2014/main" id="{3B2D7139-D4C6-12C8-C852-58271300BC8D}"/>
              </a:ext>
            </a:extLst>
          </p:cNvPr>
          <p:cNvSpPr txBox="1"/>
          <p:nvPr/>
        </p:nvSpPr>
        <p:spPr>
          <a:xfrm>
            <a:off x="180729" y="452673"/>
            <a:ext cx="3839010" cy="6463308"/>
          </a:xfrm>
          <a:prstGeom prst="rect">
            <a:avLst/>
          </a:prstGeom>
          <a:noFill/>
        </p:spPr>
        <p:txBody>
          <a:bodyPr wrap="square" rtlCol="0">
            <a:spAutoFit/>
          </a:bodyPr>
          <a:lstStyle/>
          <a:p>
            <a:r>
              <a:rPr lang="en-US" dirty="0"/>
              <a:t>Our goal is to vary the length W of the legs of the Jerusalem cross, and to record the corresponding values of the transmission coefficient T. This may be accomplished by executing with the FD model, setting up a sweep over Wk1 from 0 to, say, 3 mm, and pressing “Start”.</a:t>
            </a:r>
          </a:p>
          <a:p>
            <a:endParaRPr lang="en-US" dirty="0"/>
          </a:p>
          <a:p>
            <a:r>
              <a:rPr lang="en-US" dirty="0"/>
              <a:t>When the sweep is complete, in the Navigation Tree -&gt; 1D Results -&gt; S-Parameters select </a:t>
            </a:r>
            <a:r>
              <a:rPr lang="en-US" dirty="0" err="1"/>
              <a:t>Szmin</a:t>
            </a:r>
            <a:r>
              <a:rPr lang="en-US" dirty="0"/>
              <a:t>(2),</a:t>
            </a:r>
            <a:r>
              <a:rPr lang="en-US" dirty="0" err="1"/>
              <a:t>Zmax</a:t>
            </a:r>
            <a:r>
              <a:rPr lang="en-US" dirty="0"/>
              <a:t>(2). In the 1D Plot tab, select real/</a:t>
            </a:r>
            <a:r>
              <a:rPr lang="en-US" dirty="0" err="1"/>
              <a:t>imag</a:t>
            </a:r>
            <a:r>
              <a:rPr lang="en-US" dirty="0"/>
              <a:t>, which will display a plot as a function of Wk1. To save this data to a file, on the “Post-Processing” tab, click on “Import/Export, and then click on “Plot Data (ASCII), and name the data file, say, raviIntface2transmission.txt. Move this file to the same folder as the </a:t>
            </a:r>
            <a:r>
              <a:rPr lang="en-US" dirty="0" err="1"/>
              <a:t>Matlab</a:t>
            </a:r>
            <a:r>
              <a:rPr lang="en-US" dirty="0"/>
              <a:t> files.</a:t>
            </a:r>
          </a:p>
          <a:p>
            <a:endParaRPr lang="en-US" dirty="0"/>
          </a:p>
          <a:p>
            <a:r>
              <a:rPr lang="en-US" dirty="0"/>
              <a:t>Continued…</a:t>
            </a:r>
          </a:p>
        </p:txBody>
      </p:sp>
      <p:grpSp>
        <p:nvGrpSpPr>
          <p:cNvPr id="8" name="Group 7">
            <a:extLst>
              <a:ext uri="{FF2B5EF4-FFF2-40B4-BE49-F238E27FC236}">
                <a16:creationId xmlns:a16="http://schemas.microsoft.com/office/drawing/2014/main" id="{5DDCD7ED-6E5A-6370-4B0F-4642FE188287}"/>
              </a:ext>
            </a:extLst>
          </p:cNvPr>
          <p:cNvGrpSpPr/>
          <p:nvPr/>
        </p:nvGrpSpPr>
        <p:grpSpPr>
          <a:xfrm>
            <a:off x="4285410" y="165407"/>
            <a:ext cx="2391311" cy="1950745"/>
            <a:chOff x="6571410" y="213032"/>
            <a:chExt cx="2391311" cy="1950745"/>
          </a:xfrm>
        </p:grpSpPr>
        <p:pic>
          <p:nvPicPr>
            <p:cNvPr id="9" name="Picture 8">
              <a:extLst>
                <a:ext uri="{FF2B5EF4-FFF2-40B4-BE49-F238E27FC236}">
                  <a16:creationId xmlns:a16="http://schemas.microsoft.com/office/drawing/2014/main" id="{A6309A38-C68D-9F1A-B096-7CC2E6E98107}"/>
                </a:ext>
              </a:extLst>
            </p:cNvPr>
            <p:cNvPicPr>
              <a:picLocks noChangeAspect="1"/>
            </p:cNvPicPr>
            <p:nvPr/>
          </p:nvPicPr>
          <p:blipFill>
            <a:blip r:embed="rId2"/>
            <a:srcRect l="76708" t="48400" b="4803"/>
            <a:stretch>
              <a:fillRect/>
            </a:stretch>
          </p:blipFill>
          <p:spPr>
            <a:xfrm>
              <a:off x="6571410" y="213032"/>
              <a:ext cx="2391311" cy="1950745"/>
            </a:xfrm>
            <a:prstGeom prst="rect">
              <a:avLst/>
            </a:prstGeom>
          </p:spPr>
        </p:pic>
        <p:sp>
          <p:nvSpPr>
            <p:cNvPr id="7" name="TextBox 6">
              <a:extLst>
                <a:ext uri="{FF2B5EF4-FFF2-40B4-BE49-F238E27FC236}">
                  <a16:creationId xmlns:a16="http://schemas.microsoft.com/office/drawing/2014/main" id="{7A368E0A-7688-C512-B0BD-3954F904CEB6}"/>
                </a:ext>
              </a:extLst>
            </p:cNvPr>
            <p:cNvSpPr txBox="1"/>
            <p:nvPr/>
          </p:nvSpPr>
          <p:spPr>
            <a:xfrm>
              <a:off x="7179397" y="887240"/>
              <a:ext cx="640627" cy="369332"/>
            </a:xfrm>
            <a:prstGeom prst="rect">
              <a:avLst/>
            </a:prstGeom>
            <a:noFill/>
          </p:spPr>
          <p:txBody>
            <a:bodyPr wrap="square" rtlCol="0">
              <a:spAutoFit/>
            </a:bodyPr>
            <a:lstStyle/>
            <a:p>
              <a:r>
                <a:rPr lang="en-US" dirty="0"/>
                <a:t>Wk1</a:t>
              </a:r>
            </a:p>
          </p:txBody>
        </p:sp>
      </p:grpSp>
      <p:pic>
        <p:nvPicPr>
          <p:cNvPr id="2" name="Picture 1">
            <a:extLst>
              <a:ext uri="{FF2B5EF4-FFF2-40B4-BE49-F238E27FC236}">
                <a16:creationId xmlns:a16="http://schemas.microsoft.com/office/drawing/2014/main" id="{70C21492-185E-B6BC-0908-F19D73645BF1}"/>
              </a:ext>
            </a:extLst>
          </p:cNvPr>
          <p:cNvPicPr>
            <a:picLocks noChangeAspect="1"/>
          </p:cNvPicPr>
          <p:nvPr/>
        </p:nvPicPr>
        <p:blipFill>
          <a:blip r:embed="rId3"/>
          <a:srcRect t="27451" b="24847"/>
          <a:stretch>
            <a:fillRect/>
          </a:stretch>
        </p:blipFill>
        <p:spPr>
          <a:xfrm>
            <a:off x="6942392" y="136525"/>
            <a:ext cx="4819650" cy="2585323"/>
          </a:xfrm>
          <a:prstGeom prst="rect">
            <a:avLst/>
          </a:prstGeom>
        </p:spPr>
      </p:pic>
      <p:pic>
        <p:nvPicPr>
          <p:cNvPr id="5" name="Picture 4">
            <a:extLst>
              <a:ext uri="{FF2B5EF4-FFF2-40B4-BE49-F238E27FC236}">
                <a16:creationId xmlns:a16="http://schemas.microsoft.com/office/drawing/2014/main" id="{34039EF6-237E-CB9A-9198-D2996C6DF156}"/>
              </a:ext>
            </a:extLst>
          </p:cNvPr>
          <p:cNvPicPr>
            <a:picLocks noChangeAspect="1"/>
          </p:cNvPicPr>
          <p:nvPr/>
        </p:nvPicPr>
        <p:blipFill>
          <a:blip r:embed="rId4"/>
          <a:srcRect b="63079"/>
          <a:stretch>
            <a:fillRect/>
          </a:stretch>
        </p:blipFill>
        <p:spPr>
          <a:xfrm>
            <a:off x="4007572" y="2721848"/>
            <a:ext cx="6010275" cy="1339864"/>
          </a:xfrm>
          <a:prstGeom prst="rect">
            <a:avLst/>
          </a:prstGeom>
        </p:spPr>
      </p:pic>
      <p:pic>
        <p:nvPicPr>
          <p:cNvPr id="11" name="Picture 10">
            <a:extLst>
              <a:ext uri="{FF2B5EF4-FFF2-40B4-BE49-F238E27FC236}">
                <a16:creationId xmlns:a16="http://schemas.microsoft.com/office/drawing/2014/main" id="{88F629AC-3034-FC26-DABF-BF376B2EBFAF}"/>
              </a:ext>
            </a:extLst>
          </p:cNvPr>
          <p:cNvPicPr>
            <a:picLocks noChangeAspect="1"/>
          </p:cNvPicPr>
          <p:nvPr/>
        </p:nvPicPr>
        <p:blipFill>
          <a:blip r:embed="rId5"/>
          <a:srcRect t="2431" b="13483"/>
          <a:stretch>
            <a:fillRect/>
          </a:stretch>
        </p:blipFill>
        <p:spPr>
          <a:xfrm>
            <a:off x="4133849" y="4061712"/>
            <a:ext cx="6010276" cy="2737493"/>
          </a:xfrm>
          <a:prstGeom prst="rect">
            <a:avLst/>
          </a:prstGeom>
        </p:spPr>
      </p:pic>
      <p:pic>
        <p:nvPicPr>
          <p:cNvPr id="14" name="Picture 13">
            <a:extLst>
              <a:ext uri="{FF2B5EF4-FFF2-40B4-BE49-F238E27FC236}">
                <a16:creationId xmlns:a16="http://schemas.microsoft.com/office/drawing/2014/main" id="{9C789656-12BB-40C8-34B2-B6D4A6396756}"/>
              </a:ext>
            </a:extLst>
          </p:cNvPr>
          <p:cNvPicPr>
            <a:picLocks noChangeAspect="1"/>
          </p:cNvPicPr>
          <p:nvPr/>
        </p:nvPicPr>
        <p:blipFill>
          <a:blip r:embed="rId6"/>
          <a:srcRect r="77891" b="71606"/>
          <a:stretch>
            <a:fillRect/>
          </a:stretch>
        </p:blipFill>
        <p:spPr>
          <a:xfrm>
            <a:off x="10170670" y="3729828"/>
            <a:ext cx="1926080" cy="1339865"/>
          </a:xfrm>
          <a:prstGeom prst="rect">
            <a:avLst/>
          </a:prstGeom>
        </p:spPr>
      </p:pic>
    </p:spTree>
    <p:extLst>
      <p:ext uri="{BB962C8B-B14F-4D97-AF65-F5344CB8AC3E}">
        <p14:creationId xmlns:p14="http://schemas.microsoft.com/office/powerpoint/2010/main" val="3841868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3E12-E38D-859F-F203-D531480F10B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4E9A71A-A4F3-7684-C3BB-23547A310158}"/>
              </a:ext>
            </a:extLst>
          </p:cNvPr>
          <p:cNvPicPr>
            <a:picLocks noChangeAspect="1"/>
          </p:cNvPicPr>
          <p:nvPr/>
        </p:nvPicPr>
        <p:blipFill>
          <a:blip r:embed="rId3"/>
          <a:stretch>
            <a:fillRect/>
          </a:stretch>
        </p:blipFill>
        <p:spPr>
          <a:xfrm>
            <a:off x="4272897" y="136525"/>
            <a:ext cx="7919103" cy="6858000"/>
          </a:xfrm>
          <a:prstGeom prst="rect">
            <a:avLst/>
          </a:prstGeom>
        </p:spPr>
      </p:pic>
      <p:sp>
        <p:nvSpPr>
          <p:cNvPr id="4" name="Slide Number Placeholder 3">
            <a:extLst>
              <a:ext uri="{FF2B5EF4-FFF2-40B4-BE49-F238E27FC236}">
                <a16:creationId xmlns:a16="http://schemas.microsoft.com/office/drawing/2014/main" id="{1AE26AB2-EEAA-A3D6-329C-F11A3F448968}"/>
              </a:ext>
            </a:extLst>
          </p:cNvPr>
          <p:cNvSpPr>
            <a:spLocks noGrp="1"/>
          </p:cNvSpPr>
          <p:nvPr>
            <p:ph type="sldNum" sz="quarter" idx="12"/>
          </p:nvPr>
        </p:nvSpPr>
        <p:spPr/>
        <p:txBody>
          <a:bodyPr/>
          <a:lstStyle/>
          <a:p>
            <a:fld id="{4FBFB357-CE14-459F-A328-DF90B1D0644A}" type="slidenum">
              <a:rPr lang="en-US" smtClean="0"/>
              <a:t>6</a:t>
            </a:fld>
            <a:endParaRPr lang="en-US"/>
          </a:p>
        </p:txBody>
      </p:sp>
      <p:sp>
        <p:nvSpPr>
          <p:cNvPr id="6" name="TextBox 5">
            <a:extLst>
              <a:ext uri="{FF2B5EF4-FFF2-40B4-BE49-F238E27FC236}">
                <a16:creationId xmlns:a16="http://schemas.microsoft.com/office/drawing/2014/main" id="{8EB050CB-14E9-073D-E701-318167F45A22}"/>
              </a:ext>
            </a:extLst>
          </p:cNvPr>
          <p:cNvSpPr txBox="1"/>
          <p:nvPr/>
        </p:nvSpPr>
        <p:spPr>
          <a:xfrm>
            <a:off x="180729" y="452673"/>
            <a:ext cx="3839010" cy="5909310"/>
          </a:xfrm>
          <a:prstGeom prst="rect">
            <a:avLst/>
          </a:prstGeom>
          <a:noFill/>
        </p:spPr>
        <p:txBody>
          <a:bodyPr wrap="square" rtlCol="0">
            <a:spAutoFit/>
          </a:bodyPr>
          <a:lstStyle/>
          <a:p>
            <a:r>
              <a:rPr lang="en-US" dirty="0"/>
              <a:t>Return now to the </a:t>
            </a:r>
            <a:r>
              <a:rPr lang="en-US" dirty="0" err="1"/>
              <a:t>Matlab</a:t>
            </a:r>
            <a:r>
              <a:rPr lang="en-US" dirty="0"/>
              <a:t> window that we considered before moving to CST. Make sure the Ravi checkbox is checked. In the "Include in optimization" panel, click on the "wire reactance" checkbox. Define the constraints as, say, -10 to 30. Click the "save" button in that panel to define the optimization configuration. Enter the name of the file created in CST (“raviIntface2transmission.txt”) in the space labelled “T file name”.  </a:t>
            </a:r>
          </a:p>
          <a:p>
            <a:endParaRPr lang="en-US" dirty="0"/>
          </a:p>
          <a:p>
            <a:r>
              <a:rPr lang="en-US" dirty="0"/>
              <a:t>Click the </a:t>
            </a:r>
            <a:r>
              <a:rPr lang="en-US" dirty="0" err="1"/>
              <a:t>lsqnonlin</a:t>
            </a:r>
            <a:r>
              <a:rPr lang="en-US" dirty="0"/>
              <a:t> pushbutton. For each </a:t>
            </a:r>
            <a:r>
              <a:rPr lang="en-US" dirty="0" err="1"/>
              <a:t>Wk</a:t>
            </a:r>
            <a:r>
              <a:rPr lang="en-US" dirty="0"/>
              <a:t> in the file, LAYERS will</a:t>
            </a:r>
          </a:p>
          <a:p>
            <a:r>
              <a:rPr lang="en-US" dirty="0"/>
              <a:t>use optimization to find the impedance Z that provides this transmission coefficient (Re and </a:t>
            </a:r>
            <a:r>
              <a:rPr lang="en-US" dirty="0" err="1"/>
              <a:t>Im</a:t>
            </a:r>
            <a:r>
              <a:rPr lang="en-US" dirty="0"/>
              <a:t>) on the file for that Wk.</a:t>
            </a:r>
          </a:p>
          <a:p>
            <a:endParaRPr lang="en-US" dirty="0"/>
          </a:p>
          <a:p>
            <a:r>
              <a:rPr lang="en-US" dirty="0"/>
              <a:t>Continued…</a:t>
            </a:r>
          </a:p>
        </p:txBody>
      </p:sp>
      <p:cxnSp>
        <p:nvCxnSpPr>
          <p:cNvPr id="9" name="Straight Arrow Connector 8">
            <a:extLst>
              <a:ext uri="{FF2B5EF4-FFF2-40B4-BE49-F238E27FC236}">
                <a16:creationId xmlns:a16="http://schemas.microsoft.com/office/drawing/2014/main" id="{37AA4FA8-7E86-F744-E3E4-826ACB2ED8B8}"/>
              </a:ext>
            </a:extLst>
          </p:cNvPr>
          <p:cNvCxnSpPr/>
          <p:nvPr/>
        </p:nvCxnSpPr>
        <p:spPr>
          <a:xfrm>
            <a:off x="3209925" y="1190625"/>
            <a:ext cx="8448675" cy="1085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A8A36D1-5FF7-4248-3249-59A68EB010E4}"/>
              </a:ext>
            </a:extLst>
          </p:cNvPr>
          <p:cNvCxnSpPr/>
          <p:nvPr/>
        </p:nvCxnSpPr>
        <p:spPr>
          <a:xfrm>
            <a:off x="2238375" y="2009775"/>
            <a:ext cx="7981950" cy="1724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63A9E3A-F9DF-3CD8-9D08-8743A8333076}"/>
              </a:ext>
            </a:extLst>
          </p:cNvPr>
          <p:cNvCxnSpPr/>
          <p:nvPr/>
        </p:nvCxnSpPr>
        <p:spPr>
          <a:xfrm>
            <a:off x="2876550" y="2362200"/>
            <a:ext cx="847725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2F3B521-13F0-5056-D109-C04C770AC376}"/>
              </a:ext>
            </a:extLst>
          </p:cNvPr>
          <p:cNvCxnSpPr/>
          <p:nvPr/>
        </p:nvCxnSpPr>
        <p:spPr>
          <a:xfrm>
            <a:off x="1562100" y="2562225"/>
            <a:ext cx="9944100" cy="2667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2A4F923-439B-4EBA-5108-5499DF66F839}"/>
              </a:ext>
            </a:extLst>
          </p:cNvPr>
          <p:cNvCxnSpPr/>
          <p:nvPr/>
        </p:nvCxnSpPr>
        <p:spPr>
          <a:xfrm flipV="1">
            <a:off x="3124200" y="2981325"/>
            <a:ext cx="7019925" cy="676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3916D48-9930-7D53-90A3-A4B631AAC23F}"/>
              </a:ext>
            </a:extLst>
          </p:cNvPr>
          <p:cNvCxnSpPr/>
          <p:nvPr/>
        </p:nvCxnSpPr>
        <p:spPr>
          <a:xfrm flipV="1">
            <a:off x="3095625" y="2362200"/>
            <a:ext cx="7124700" cy="1819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CFEE2ED-D1B3-89E5-E2BF-66514390C80E}"/>
              </a:ext>
            </a:extLst>
          </p:cNvPr>
          <p:cNvCxnSpPr/>
          <p:nvPr/>
        </p:nvCxnSpPr>
        <p:spPr>
          <a:xfrm flipV="1">
            <a:off x="3248025" y="2514600"/>
            <a:ext cx="7124700" cy="1819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85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62653-7D20-4E09-74F6-74C1C081204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BC91ED8-DEBD-870D-15B7-43ED69F9D8C8}"/>
              </a:ext>
            </a:extLst>
          </p:cNvPr>
          <p:cNvSpPr>
            <a:spLocks noGrp="1"/>
          </p:cNvSpPr>
          <p:nvPr>
            <p:ph type="sldNum" sz="quarter" idx="12"/>
          </p:nvPr>
        </p:nvSpPr>
        <p:spPr/>
        <p:txBody>
          <a:bodyPr/>
          <a:lstStyle/>
          <a:p>
            <a:fld id="{4FBFB357-CE14-459F-A328-DF90B1D0644A}" type="slidenum">
              <a:rPr lang="en-US" smtClean="0"/>
              <a:t>7</a:t>
            </a:fld>
            <a:endParaRPr lang="en-US"/>
          </a:p>
        </p:txBody>
      </p:sp>
      <p:sp>
        <p:nvSpPr>
          <p:cNvPr id="6" name="TextBox 5">
            <a:extLst>
              <a:ext uri="{FF2B5EF4-FFF2-40B4-BE49-F238E27FC236}">
                <a16:creationId xmlns:a16="http://schemas.microsoft.com/office/drawing/2014/main" id="{BEB6A382-B797-1F1C-6D5F-5E9372EBA4C6}"/>
              </a:ext>
            </a:extLst>
          </p:cNvPr>
          <p:cNvSpPr txBox="1"/>
          <p:nvPr/>
        </p:nvSpPr>
        <p:spPr>
          <a:xfrm>
            <a:off x="180728" y="452673"/>
            <a:ext cx="6582021" cy="2031325"/>
          </a:xfrm>
          <a:prstGeom prst="rect">
            <a:avLst/>
          </a:prstGeom>
          <a:noFill/>
        </p:spPr>
        <p:txBody>
          <a:bodyPr wrap="square" rtlCol="0">
            <a:spAutoFit/>
          </a:bodyPr>
          <a:lstStyle/>
          <a:p>
            <a:r>
              <a:rPr lang="en-US" dirty="0"/>
              <a:t>The results are given in two plots. Only the values </a:t>
            </a:r>
            <a:r>
              <a:rPr lang="en-US" dirty="0" err="1"/>
              <a:t>Wk</a:t>
            </a:r>
            <a:r>
              <a:rPr lang="en-US" dirty="0"/>
              <a:t> for which the optimization succeeded are plotted. 0&lt;</a:t>
            </a:r>
            <a:r>
              <a:rPr lang="en-US" dirty="0" err="1"/>
              <a:t>Wk</a:t>
            </a:r>
            <a:r>
              <a:rPr lang="en-US" dirty="0"/>
              <a:t>&lt;120 mil. Note that for </a:t>
            </a:r>
            <a:r>
              <a:rPr lang="en-US" dirty="0" err="1"/>
              <a:t>Wk</a:t>
            </a:r>
            <a:r>
              <a:rPr lang="en-US" dirty="0"/>
              <a:t>&lt;80, the reactance is capacitive (</a:t>
            </a:r>
            <a:r>
              <a:rPr lang="en-US" dirty="0" err="1"/>
              <a:t>Im</a:t>
            </a:r>
            <a:r>
              <a:rPr lang="en-US" dirty="0"/>
              <a:t>(Z)&gt;0). For </a:t>
            </a:r>
            <a:r>
              <a:rPr lang="en-US" dirty="0" err="1"/>
              <a:t>Wk</a:t>
            </a:r>
            <a:r>
              <a:rPr lang="en-US" dirty="0"/>
              <a:t>&gt;80 the reactance is inductive, but the real part (losses) start increasing exponentially. The inductive reactance is also increasing exponentially. This might be indicative of the method failing for </a:t>
            </a:r>
            <a:r>
              <a:rPr lang="en-US" dirty="0" err="1"/>
              <a:t>Wk</a:t>
            </a:r>
            <a:r>
              <a:rPr lang="en-US" dirty="0"/>
              <a:t>&gt;80. We therefore limit ourselves to </a:t>
            </a:r>
            <a:r>
              <a:rPr lang="en-US" dirty="0" err="1"/>
              <a:t>Wk</a:t>
            </a:r>
            <a:r>
              <a:rPr lang="en-US" dirty="0"/>
              <a:t>&lt;80.</a:t>
            </a:r>
          </a:p>
        </p:txBody>
      </p:sp>
      <p:pic>
        <p:nvPicPr>
          <p:cNvPr id="3" name="Picture 2">
            <a:extLst>
              <a:ext uri="{FF2B5EF4-FFF2-40B4-BE49-F238E27FC236}">
                <a16:creationId xmlns:a16="http://schemas.microsoft.com/office/drawing/2014/main" id="{C731A5E0-BC70-2654-EA47-792F1E8DF091}"/>
              </a:ext>
            </a:extLst>
          </p:cNvPr>
          <p:cNvPicPr>
            <a:picLocks noChangeAspect="1"/>
          </p:cNvPicPr>
          <p:nvPr/>
        </p:nvPicPr>
        <p:blipFill>
          <a:blip r:embed="rId2"/>
          <a:stretch>
            <a:fillRect/>
          </a:stretch>
        </p:blipFill>
        <p:spPr>
          <a:xfrm>
            <a:off x="6877050" y="-123825"/>
            <a:ext cx="4686300" cy="3514725"/>
          </a:xfrm>
          <a:prstGeom prst="rect">
            <a:avLst/>
          </a:prstGeom>
        </p:spPr>
      </p:pic>
      <p:pic>
        <p:nvPicPr>
          <p:cNvPr id="7" name="Picture 6">
            <a:extLst>
              <a:ext uri="{FF2B5EF4-FFF2-40B4-BE49-F238E27FC236}">
                <a16:creationId xmlns:a16="http://schemas.microsoft.com/office/drawing/2014/main" id="{B4C3564D-72D6-F61C-E5F7-AF6B33711F46}"/>
              </a:ext>
            </a:extLst>
          </p:cNvPr>
          <p:cNvPicPr>
            <a:picLocks noChangeAspect="1"/>
          </p:cNvPicPr>
          <p:nvPr/>
        </p:nvPicPr>
        <p:blipFill>
          <a:blip r:embed="rId3"/>
          <a:stretch>
            <a:fillRect/>
          </a:stretch>
        </p:blipFill>
        <p:spPr>
          <a:xfrm>
            <a:off x="6877051" y="3314700"/>
            <a:ext cx="4686300" cy="3514725"/>
          </a:xfrm>
          <a:prstGeom prst="rect">
            <a:avLst/>
          </a:prstGeom>
        </p:spPr>
      </p:pic>
    </p:spTree>
    <p:extLst>
      <p:ext uri="{BB962C8B-B14F-4D97-AF65-F5344CB8AC3E}">
        <p14:creationId xmlns:p14="http://schemas.microsoft.com/office/powerpoint/2010/main" val="3516059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69B40-461E-2B63-AEA9-4BE5BA217A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B1C382-A88E-BB06-28D3-18A06C1AE181}"/>
              </a:ext>
            </a:extLst>
          </p:cNvPr>
          <p:cNvSpPr>
            <a:spLocks noGrp="1"/>
          </p:cNvSpPr>
          <p:nvPr>
            <p:ph type="sldNum" sz="quarter" idx="12"/>
          </p:nvPr>
        </p:nvSpPr>
        <p:spPr/>
        <p:txBody>
          <a:bodyPr/>
          <a:lstStyle/>
          <a:p>
            <a:fld id="{4FBFB357-CE14-459F-A328-DF90B1D0644A}" type="slidenum">
              <a:rPr lang="en-US" smtClean="0"/>
              <a:t>8</a:t>
            </a:fld>
            <a:endParaRPr lang="en-US"/>
          </a:p>
        </p:txBody>
      </p:sp>
      <p:sp>
        <p:nvSpPr>
          <p:cNvPr id="6" name="TextBox 5">
            <a:extLst>
              <a:ext uri="{FF2B5EF4-FFF2-40B4-BE49-F238E27FC236}">
                <a16:creationId xmlns:a16="http://schemas.microsoft.com/office/drawing/2014/main" id="{0224AE7A-8971-D3F7-1A33-8A984D1E6D9D}"/>
              </a:ext>
            </a:extLst>
          </p:cNvPr>
          <p:cNvSpPr txBox="1"/>
          <p:nvPr/>
        </p:nvSpPr>
        <p:spPr>
          <a:xfrm>
            <a:off x="180729" y="1874079"/>
            <a:ext cx="4092168" cy="1754326"/>
          </a:xfrm>
          <a:prstGeom prst="rect">
            <a:avLst/>
          </a:prstGeom>
          <a:noFill/>
        </p:spPr>
        <p:txBody>
          <a:bodyPr wrap="square" rtlCol="0">
            <a:spAutoFit/>
          </a:bodyPr>
          <a:lstStyle/>
          <a:p>
            <a:r>
              <a:rPr lang="en-US" dirty="0"/>
              <a:t>The results from the exhaustive search will be written on a file called </a:t>
            </a:r>
            <a:r>
              <a:rPr lang="en-US" dirty="0" err="1"/>
              <a:t>LUT.opt</a:t>
            </a:r>
            <a:r>
              <a:rPr lang="en-US" dirty="0"/>
              <a:t> or </a:t>
            </a:r>
            <a:r>
              <a:rPr lang="en-US" dirty="0" err="1"/>
              <a:t>technionLUT.opt</a:t>
            </a:r>
            <a:r>
              <a:rPr lang="en-US" dirty="0"/>
              <a:t>. To process this file:</a:t>
            </a:r>
          </a:p>
          <a:p>
            <a:endParaRPr lang="en-US" dirty="0"/>
          </a:p>
          <a:p>
            <a:r>
              <a:rPr lang="en-US" dirty="0"/>
              <a:t>Open the LUT window by clicking in the LUT checkbox.</a:t>
            </a:r>
          </a:p>
        </p:txBody>
      </p:sp>
      <p:pic>
        <p:nvPicPr>
          <p:cNvPr id="7" name="Picture 6">
            <a:extLst>
              <a:ext uri="{FF2B5EF4-FFF2-40B4-BE49-F238E27FC236}">
                <a16:creationId xmlns:a16="http://schemas.microsoft.com/office/drawing/2014/main" id="{E70938FE-E80D-C341-640C-93B3793025F4}"/>
              </a:ext>
            </a:extLst>
          </p:cNvPr>
          <p:cNvPicPr>
            <a:picLocks noChangeAspect="1"/>
          </p:cNvPicPr>
          <p:nvPr/>
        </p:nvPicPr>
        <p:blipFill>
          <a:blip r:embed="rId2"/>
          <a:stretch>
            <a:fillRect/>
          </a:stretch>
        </p:blipFill>
        <p:spPr>
          <a:xfrm>
            <a:off x="4272897" y="136525"/>
            <a:ext cx="7919103" cy="6858000"/>
          </a:xfrm>
          <a:prstGeom prst="rect">
            <a:avLst/>
          </a:prstGeom>
        </p:spPr>
      </p:pic>
      <p:cxnSp>
        <p:nvCxnSpPr>
          <p:cNvPr id="3" name="Straight Arrow Connector 2">
            <a:extLst>
              <a:ext uri="{FF2B5EF4-FFF2-40B4-BE49-F238E27FC236}">
                <a16:creationId xmlns:a16="http://schemas.microsoft.com/office/drawing/2014/main" id="{20A7D0AB-5C22-0FE9-8540-A50C62526A23}"/>
              </a:ext>
            </a:extLst>
          </p:cNvPr>
          <p:cNvCxnSpPr>
            <a:cxnSpLocks/>
          </p:cNvCxnSpPr>
          <p:nvPr/>
        </p:nvCxnSpPr>
        <p:spPr>
          <a:xfrm flipV="1">
            <a:off x="4019739" y="2670772"/>
            <a:ext cx="6871580" cy="543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94EAD81-011D-018B-952C-EA3478E2976B}"/>
              </a:ext>
            </a:extLst>
          </p:cNvPr>
          <p:cNvSpPr txBox="1"/>
          <p:nvPr/>
        </p:nvSpPr>
        <p:spPr>
          <a:xfrm>
            <a:off x="180729" y="452673"/>
            <a:ext cx="3839010" cy="1200329"/>
          </a:xfrm>
          <a:prstGeom prst="rect">
            <a:avLst/>
          </a:prstGeom>
          <a:noFill/>
        </p:spPr>
        <p:txBody>
          <a:bodyPr wrap="square" rtlCol="0">
            <a:spAutoFit/>
          </a:bodyPr>
          <a:lstStyle/>
          <a:p>
            <a:r>
              <a:rPr lang="en-US" dirty="0"/>
              <a:t>To perform an exhaustive search, check </a:t>
            </a:r>
            <a:r>
              <a:rPr lang="en-US" dirty="0" err="1"/>
              <a:t>WkSym</a:t>
            </a:r>
            <a:r>
              <a:rPr lang="en-US" dirty="0"/>
              <a:t> checkbox if symmetric, fill in the distance, and click “Exhaustive”.</a:t>
            </a:r>
          </a:p>
          <a:p>
            <a:endParaRPr lang="en-US" dirty="0"/>
          </a:p>
        </p:txBody>
      </p:sp>
      <p:cxnSp>
        <p:nvCxnSpPr>
          <p:cNvPr id="9" name="Straight Arrow Connector 8">
            <a:extLst>
              <a:ext uri="{FF2B5EF4-FFF2-40B4-BE49-F238E27FC236}">
                <a16:creationId xmlns:a16="http://schemas.microsoft.com/office/drawing/2014/main" id="{ECF8E1EB-0E01-1FA3-666B-65C4CB9F8EC7}"/>
              </a:ext>
            </a:extLst>
          </p:cNvPr>
          <p:cNvCxnSpPr>
            <a:cxnSpLocks/>
          </p:cNvCxnSpPr>
          <p:nvPr/>
        </p:nvCxnSpPr>
        <p:spPr>
          <a:xfrm>
            <a:off x="3078178" y="911907"/>
            <a:ext cx="8275622" cy="590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FBEA276-D398-CEF4-B81B-2024E1226C20}"/>
              </a:ext>
            </a:extLst>
          </p:cNvPr>
          <p:cNvCxnSpPr>
            <a:cxnSpLocks/>
          </p:cNvCxnSpPr>
          <p:nvPr/>
        </p:nvCxnSpPr>
        <p:spPr>
          <a:xfrm>
            <a:off x="1376127" y="1240325"/>
            <a:ext cx="9515192" cy="2634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4FF40E6-7D1B-A1E8-4288-F61847C2E7DF}"/>
              </a:ext>
            </a:extLst>
          </p:cNvPr>
          <p:cNvCxnSpPr>
            <a:cxnSpLocks/>
          </p:cNvCxnSpPr>
          <p:nvPr/>
        </p:nvCxnSpPr>
        <p:spPr>
          <a:xfrm>
            <a:off x="3684760" y="1267485"/>
            <a:ext cx="6518495" cy="2616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174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0D1B-DCDE-F02E-C9BF-E1045F9B04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812D3F-AFDB-4C37-324A-489468FA045B}"/>
              </a:ext>
            </a:extLst>
          </p:cNvPr>
          <p:cNvSpPr>
            <a:spLocks noGrp="1"/>
          </p:cNvSpPr>
          <p:nvPr>
            <p:ph type="sldNum" sz="quarter" idx="12"/>
          </p:nvPr>
        </p:nvSpPr>
        <p:spPr/>
        <p:txBody>
          <a:bodyPr/>
          <a:lstStyle/>
          <a:p>
            <a:fld id="{4FBFB357-CE14-459F-A328-DF90B1D0644A}" type="slidenum">
              <a:rPr lang="en-US" smtClean="0"/>
              <a:t>9</a:t>
            </a:fld>
            <a:endParaRPr lang="en-US"/>
          </a:p>
        </p:txBody>
      </p:sp>
      <p:sp>
        <p:nvSpPr>
          <p:cNvPr id="6" name="TextBox 5">
            <a:extLst>
              <a:ext uri="{FF2B5EF4-FFF2-40B4-BE49-F238E27FC236}">
                <a16:creationId xmlns:a16="http://schemas.microsoft.com/office/drawing/2014/main" id="{08CFFC72-4302-0A85-6500-C3741AEEDAFC}"/>
              </a:ext>
            </a:extLst>
          </p:cNvPr>
          <p:cNvSpPr txBox="1"/>
          <p:nvPr/>
        </p:nvSpPr>
        <p:spPr>
          <a:xfrm>
            <a:off x="97909" y="150374"/>
            <a:ext cx="6256285" cy="2862322"/>
          </a:xfrm>
          <a:prstGeom prst="rect">
            <a:avLst/>
          </a:prstGeom>
          <a:noFill/>
        </p:spPr>
        <p:txBody>
          <a:bodyPr wrap="square" rtlCol="0">
            <a:spAutoFit/>
          </a:bodyPr>
          <a:lstStyle/>
          <a:p>
            <a:r>
              <a:rPr lang="en-US" dirty="0"/>
              <a:t>Consider changing the name of the file so that it won’t be overwritten next time. Call it LUT11p7d.opt. Open the file file&gt;open opt file. </a:t>
            </a:r>
          </a:p>
          <a:p>
            <a:endParaRPr lang="en-US" dirty="0"/>
          </a:p>
          <a:p>
            <a:r>
              <a:rPr lang="en-US" dirty="0"/>
              <a:t>Each point in the file represents 5 values of Wk. The points are not ordered by phase. In order to process them, we must order them by phase.    This creates a new .opt file with the same name, but with “sorted” after the name. </a:t>
            </a:r>
          </a:p>
          <a:p>
            <a:endParaRPr lang="en-US" dirty="0"/>
          </a:p>
          <a:p>
            <a:r>
              <a:rPr lang="en-US" dirty="0"/>
              <a:t>Open this file as before. </a:t>
            </a:r>
          </a:p>
        </p:txBody>
      </p:sp>
      <p:pic>
        <p:nvPicPr>
          <p:cNvPr id="2" name="Picture 1">
            <a:extLst>
              <a:ext uri="{FF2B5EF4-FFF2-40B4-BE49-F238E27FC236}">
                <a16:creationId xmlns:a16="http://schemas.microsoft.com/office/drawing/2014/main" id="{BD93DC37-F943-4F07-F8A9-E268C7642867}"/>
              </a:ext>
            </a:extLst>
          </p:cNvPr>
          <p:cNvPicPr>
            <a:picLocks noChangeAspect="1"/>
          </p:cNvPicPr>
          <p:nvPr/>
        </p:nvPicPr>
        <p:blipFill>
          <a:blip r:embed="rId2"/>
          <a:stretch>
            <a:fillRect/>
          </a:stretch>
        </p:blipFill>
        <p:spPr>
          <a:xfrm>
            <a:off x="6859466" y="0"/>
            <a:ext cx="4947007" cy="6858000"/>
          </a:xfrm>
          <a:prstGeom prst="rect">
            <a:avLst/>
          </a:prstGeom>
        </p:spPr>
      </p:pic>
      <p:cxnSp>
        <p:nvCxnSpPr>
          <p:cNvPr id="8" name="Straight Arrow Connector 7">
            <a:extLst>
              <a:ext uri="{FF2B5EF4-FFF2-40B4-BE49-F238E27FC236}">
                <a16:creationId xmlns:a16="http://schemas.microsoft.com/office/drawing/2014/main" id="{F33F195D-978C-FAAB-9F25-EA2E6C3761F9}"/>
              </a:ext>
            </a:extLst>
          </p:cNvPr>
          <p:cNvCxnSpPr>
            <a:cxnSpLocks/>
          </p:cNvCxnSpPr>
          <p:nvPr/>
        </p:nvCxnSpPr>
        <p:spPr>
          <a:xfrm flipV="1">
            <a:off x="6183517" y="353085"/>
            <a:ext cx="675949" cy="887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AB4BADEB-A169-B7CB-E878-3E1047D57452}"/>
              </a:ext>
            </a:extLst>
          </p:cNvPr>
          <p:cNvPicPr>
            <a:picLocks noChangeAspect="1"/>
          </p:cNvPicPr>
          <p:nvPr/>
        </p:nvPicPr>
        <p:blipFill>
          <a:blip r:embed="rId3"/>
          <a:stretch>
            <a:fillRect/>
          </a:stretch>
        </p:blipFill>
        <p:spPr>
          <a:xfrm>
            <a:off x="559052" y="2802452"/>
            <a:ext cx="5334000" cy="4000500"/>
          </a:xfrm>
          <a:prstGeom prst="rect">
            <a:avLst/>
          </a:prstGeom>
        </p:spPr>
      </p:pic>
      <p:cxnSp>
        <p:nvCxnSpPr>
          <p:cNvPr id="12" name="Straight Arrow Connector 11">
            <a:extLst>
              <a:ext uri="{FF2B5EF4-FFF2-40B4-BE49-F238E27FC236}">
                <a16:creationId xmlns:a16="http://schemas.microsoft.com/office/drawing/2014/main" id="{10A177F2-B5BC-41F6-0595-30C6D2528735}"/>
              </a:ext>
            </a:extLst>
          </p:cNvPr>
          <p:cNvCxnSpPr>
            <a:cxnSpLocks/>
          </p:cNvCxnSpPr>
          <p:nvPr/>
        </p:nvCxnSpPr>
        <p:spPr>
          <a:xfrm>
            <a:off x="1683945" y="1784214"/>
            <a:ext cx="6074875" cy="82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2AFDFAC-1320-EBD6-23C5-CE66FEE5207C}"/>
              </a:ext>
            </a:extLst>
          </p:cNvPr>
          <p:cNvCxnSpPr/>
          <p:nvPr/>
        </p:nvCxnSpPr>
        <p:spPr>
          <a:xfrm flipV="1">
            <a:off x="4028792" y="1784214"/>
            <a:ext cx="5169529" cy="411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5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6FB8E-5828-D3E5-2454-1A8180B650D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416ED0-67DC-95AC-0C2D-6ABD72C49B3E}"/>
              </a:ext>
            </a:extLst>
          </p:cNvPr>
          <p:cNvSpPr>
            <a:spLocks noGrp="1"/>
          </p:cNvSpPr>
          <p:nvPr>
            <p:ph type="sldNum" sz="quarter" idx="12"/>
          </p:nvPr>
        </p:nvSpPr>
        <p:spPr/>
        <p:txBody>
          <a:bodyPr/>
          <a:lstStyle/>
          <a:p>
            <a:fld id="{4FBFB357-CE14-459F-A328-DF90B1D0644A}" type="slidenum">
              <a:rPr lang="en-US" smtClean="0"/>
              <a:t>10</a:t>
            </a:fld>
            <a:endParaRPr lang="en-US"/>
          </a:p>
        </p:txBody>
      </p:sp>
      <p:sp>
        <p:nvSpPr>
          <p:cNvPr id="6" name="TextBox 5">
            <a:extLst>
              <a:ext uri="{FF2B5EF4-FFF2-40B4-BE49-F238E27FC236}">
                <a16:creationId xmlns:a16="http://schemas.microsoft.com/office/drawing/2014/main" id="{2453FC92-F888-2D14-1D79-CF0EC7D08D5B}"/>
              </a:ext>
            </a:extLst>
          </p:cNvPr>
          <p:cNvSpPr txBox="1"/>
          <p:nvPr/>
        </p:nvSpPr>
        <p:spPr>
          <a:xfrm>
            <a:off x="97909" y="150374"/>
            <a:ext cx="6256285" cy="2308324"/>
          </a:xfrm>
          <a:prstGeom prst="rect">
            <a:avLst/>
          </a:prstGeom>
          <a:noFill/>
        </p:spPr>
        <p:txBody>
          <a:bodyPr wrap="square" rtlCol="0">
            <a:spAutoFit/>
          </a:bodyPr>
          <a:lstStyle/>
          <a:p>
            <a:r>
              <a:rPr lang="en-US" dirty="0"/>
              <a:t>For the LUT, we only require points on the cloud periphery.  Define the parameters for choosing these points. Suppose we want 2 results in every 5 degrees of phase. The results are shown below. To save this, press “save modified files” button. This will save it to a file with the same name, followed by “mod”. To edit this file, it must be opened through the file menu. In order to avoid having to many figures open, “close all figures” may be clicked. </a:t>
            </a:r>
          </a:p>
        </p:txBody>
      </p:sp>
      <p:pic>
        <p:nvPicPr>
          <p:cNvPr id="2" name="Picture 1">
            <a:extLst>
              <a:ext uri="{FF2B5EF4-FFF2-40B4-BE49-F238E27FC236}">
                <a16:creationId xmlns:a16="http://schemas.microsoft.com/office/drawing/2014/main" id="{E1B74B8A-CBB1-A8CE-FA4E-9B8A20A547D7}"/>
              </a:ext>
            </a:extLst>
          </p:cNvPr>
          <p:cNvPicPr>
            <a:picLocks noChangeAspect="1"/>
          </p:cNvPicPr>
          <p:nvPr/>
        </p:nvPicPr>
        <p:blipFill>
          <a:blip r:embed="rId2"/>
          <a:stretch>
            <a:fillRect/>
          </a:stretch>
        </p:blipFill>
        <p:spPr>
          <a:xfrm>
            <a:off x="6859466" y="0"/>
            <a:ext cx="4947007" cy="6858000"/>
          </a:xfrm>
          <a:prstGeom prst="rect">
            <a:avLst/>
          </a:prstGeom>
        </p:spPr>
      </p:pic>
      <p:pic>
        <p:nvPicPr>
          <p:cNvPr id="3" name="Picture 2">
            <a:extLst>
              <a:ext uri="{FF2B5EF4-FFF2-40B4-BE49-F238E27FC236}">
                <a16:creationId xmlns:a16="http://schemas.microsoft.com/office/drawing/2014/main" id="{F4591A69-738A-676A-7577-5901A4500A16}"/>
              </a:ext>
            </a:extLst>
          </p:cNvPr>
          <p:cNvPicPr>
            <a:picLocks noChangeAspect="1"/>
          </p:cNvPicPr>
          <p:nvPr/>
        </p:nvPicPr>
        <p:blipFill>
          <a:blip r:embed="rId3"/>
          <a:stretch>
            <a:fillRect/>
          </a:stretch>
        </p:blipFill>
        <p:spPr>
          <a:xfrm>
            <a:off x="762000" y="2857500"/>
            <a:ext cx="5334000" cy="4000500"/>
          </a:xfrm>
          <a:prstGeom prst="rect">
            <a:avLst/>
          </a:prstGeom>
        </p:spPr>
      </p:pic>
      <p:cxnSp>
        <p:nvCxnSpPr>
          <p:cNvPr id="7" name="Straight Arrow Connector 6">
            <a:extLst>
              <a:ext uri="{FF2B5EF4-FFF2-40B4-BE49-F238E27FC236}">
                <a16:creationId xmlns:a16="http://schemas.microsoft.com/office/drawing/2014/main" id="{F0178621-AE7E-B9A4-3C43-4E6AC06FCF89}"/>
              </a:ext>
            </a:extLst>
          </p:cNvPr>
          <p:cNvCxnSpPr/>
          <p:nvPr/>
        </p:nvCxnSpPr>
        <p:spPr>
          <a:xfrm>
            <a:off x="5232903" y="1158844"/>
            <a:ext cx="4300396" cy="1376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0FA2C37-8864-E298-9FD2-BBF5AC86E465}"/>
              </a:ext>
            </a:extLst>
          </p:cNvPr>
          <p:cNvCxnSpPr/>
          <p:nvPr/>
        </p:nvCxnSpPr>
        <p:spPr>
          <a:xfrm>
            <a:off x="995881" y="2299580"/>
            <a:ext cx="9922598" cy="389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003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0CDED-6328-FAAD-2D2C-D4465CF444C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BC732C-C82C-9508-9584-ACA20227879E}"/>
              </a:ext>
            </a:extLst>
          </p:cNvPr>
          <p:cNvSpPr>
            <a:spLocks noGrp="1"/>
          </p:cNvSpPr>
          <p:nvPr>
            <p:ph type="sldNum" sz="quarter" idx="12"/>
          </p:nvPr>
        </p:nvSpPr>
        <p:spPr/>
        <p:txBody>
          <a:bodyPr/>
          <a:lstStyle/>
          <a:p>
            <a:fld id="{4FBFB357-CE14-459F-A328-DF90B1D0644A}" type="slidenum">
              <a:rPr lang="en-US" smtClean="0"/>
              <a:t>11</a:t>
            </a:fld>
            <a:endParaRPr lang="en-US"/>
          </a:p>
        </p:txBody>
      </p:sp>
      <p:sp>
        <p:nvSpPr>
          <p:cNvPr id="6" name="TextBox 5">
            <a:extLst>
              <a:ext uri="{FF2B5EF4-FFF2-40B4-BE49-F238E27FC236}">
                <a16:creationId xmlns:a16="http://schemas.microsoft.com/office/drawing/2014/main" id="{BFBAF237-328A-8FAA-454B-4247BFD34267}"/>
              </a:ext>
            </a:extLst>
          </p:cNvPr>
          <p:cNvSpPr txBox="1"/>
          <p:nvPr/>
        </p:nvSpPr>
        <p:spPr>
          <a:xfrm>
            <a:off x="97909" y="150374"/>
            <a:ext cx="6256285" cy="646331"/>
          </a:xfrm>
          <a:prstGeom prst="rect">
            <a:avLst/>
          </a:prstGeom>
          <a:noFill/>
        </p:spPr>
        <p:txBody>
          <a:bodyPr wrap="square" rtlCol="0">
            <a:spAutoFit/>
          </a:bodyPr>
          <a:lstStyle/>
          <a:p>
            <a:r>
              <a:rPr lang="en-US" dirty="0"/>
              <a:t>Having opened this reduced file, we can edit it by </a:t>
            </a:r>
            <a:r>
              <a:rPr lang="en-US"/>
              <a:t>deleting points. </a:t>
            </a:r>
            <a:endParaRPr lang="en-US" dirty="0"/>
          </a:p>
        </p:txBody>
      </p:sp>
      <p:pic>
        <p:nvPicPr>
          <p:cNvPr id="3" name="Picture 2">
            <a:extLst>
              <a:ext uri="{FF2B5EF4-FFF2-40B4-BE49-F238E27FC236}">
                <a16:creationId xmlns:a16="http://schemas.microsoft.com/office/drawing/2014/main" id="{0F3C5D6F-A13D-0993-736A-D81329A9DDA7}"/>
              </a:ext>
            </a:extLst>
          </p:cNvPr>
          <p:cNvPicPr>
            <a:picLocks noChangeAspect="1"/>
          </p:cNvPicPr>
          <p:nvPr/>
        </p:nvPicPr>
        <p:blipFill>
          <a:blip r:embed="rId2"/>
          <a:stretch>
            <a:fillRect/>
          </a:stretch>
        </p:blipFill>
        <p:spPr>
          <a:xfrm>
            <a:off x="762000" y="2857500"/>
            <a:ext cx="5334000" cy="4000500"/>
          </a:xfrm>
          <a:prstGeom prst="rect">
            <a:avLst/>
          </a:prstGeom>
        </p:spPr>
      </p:pic>
      <p:pic>
        <p:nvPicPr>
          <p:cNvPr id="9" name="Picture 8">
            <a:extLst>
              <a:ext uri="{FF2B5EF4-FFF2-40B4-BE49-F238E27FC236}">
                <a16:creationId xmlns:a16="http://schemas.microsoft.com/office/drawing/2014/main" id="{0AD0366C-447F-7106-D665-371C64DE34D8}"/>
              </a:ext>
            </a:extLst>
          </p:cNvPr>
          <p:cNvPicPr>
            <a:picLocks noChangeAspect="1"/>
          </p:cNvPicPr>
          <p:nvPr/>
        </p:nvPicPr>
        <p:blipFill>
          <a:blip r:embed="rId3"/>
          <a:stretch>
            <a:fillRect/>
          </a:stretch>
        </p:blipFill>
        <p:spPr>
          <a:xfrm>
            <a:off x="7244993" y="0"/>
            <a:ext cx="4947007" cy="6858000"/>
          </a:xfrm>
          <a:prstGeom prst="rect">
            <a:avLst/>
          </a:prstGeom>
        </p:spPr>
      </p:pic>
    </p:spTree>
    <p:extLst>
      <p:ext uri="{BB962C8B-B14F-4D97-AF65-F5344CB8AC3E}">
        <p14:creationId xmlns:p14="http://schemas.microsoft.com/office/powerpoint/2010/main" val="467318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F61AE3E-9793-04F9-97AD-6C9F380F0BDB}"/>
              </a:ext>
            </a:extLst>
          </p:cNvPr>
          <p:cNvSpPr/>
          <p:nvPr/>
        </p:nvSpPr>
        <p:spPr>
          <a:xfrm>
            <a:off x="4516582" y="738909"/>
            <a:ext cx="4562763" cy="45627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B854BD9-0660-A82D-FB37-CB73AA04D83E}"/>
              </a:ext>
            </a:extLst>
          </p:cNvPr>
          <p:cNvSpPr/>
          <p:nvPr/>
        </p:nvSpPr>
        <p:spPr>
          <a:xfrm>
            <a:off x="6659421" y="928253"/>
            <a:ext cx="295563" cy="418407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2516C70-8418-6500-D36F-8A32177E972F}"/>
              </a:ext>
            </a:extLst>
          </p:cNvPr>
          <p:cNvSpPr/>
          <p:nvPr/>
        </p:nvSpPr>
        <p:spPr>
          <a:xfrm rot="5400000">
            <a:off x="6664045" y="942113"/>
            <a:ext cx="295563" cy="4184073"/>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7DF823-0E89-DBBC-C85A-2EF424E4DBD3}"/>
              </a:ext>
            </a:extLst>
          </p:cNvPr>
          <p:cNvSpPr/>
          <p:nvPr/>
        </p:nvSpPr>
        <p:spPr>
          <a:xfrm rot="5400000">
            <a:off x="6669538" y="-363966"/>
            <a:ext cx="295563"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C98E0C8-C3BA-CEE3-B0BB-E570399607C3}"/>
              </a:ext>
            </a:extLst>
          </p:cNvPr>
          <p:cNvSpPr/>
          <p:nvPr/>
        </p:nvSpPr>
        <p:spPr>
          <a:xfrm rot="5400000">
            <a:off x="6655674" y="3524544"/>
            <a:ext cx="295563"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6D07EE-0CE1-836A-FB4D-2FEFC6BF8CA6}"/>
              </a:ext>
            </a:extLst>
          </p:cNvPr>
          <p:cNvSpPr/>
          <p:nvPr/>
        </p:nvSpPr>
        <p:spPr>
          <a:xfrm>
            <a:off x="4705926" y="1602506"/>
            <a:ext cx="295563"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1330B-4493-BCF2-B526-85EF86EEFB0B}"/>
              </a:ext>
            </a:extLst>
          </p:cNvPr>
          <p:cNvSpPr/>
          <p:nvPr/>
        </p:nvSpPr>
        <p:spPr>
          <a:xfrm>
            <a:off x="8608300" y="1602507"/>
            <a:ext cx="295563"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575CA00-112C-F08E-1097-C4594A627E69}"/>
              </a:ext>
            </a:extLst>
          </p:cNvPr>
          <p:cNvCxnSpPr/>
          <p:nvPr/>
        </p:nvCxnSpPr>
        <p:spPr>
          <a:xfrm>
            <a:off x="4705926" y="4581236"/>
            <a:ext cx="0" cy="1126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07F67C-E43D-6B13-C0F7-3F11D1998323}"/>
              </a:ext>
            </a:extLst>
          </p:cNvPr>
          <p:cNvCxnSpPr>
            <a:cxnSpLocks/>
          </p:cNvCxnSpPr>
          <p:nvPr/>
        </p:nvCxnSpPr>
        <p:spPr>
          <a:xfrm>
            <a:off x="4525817" y="5430979"/>
            <a:ext cx="0" cy="277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E92EF4-0E66-A461-D3F8-B2DEB222B9FB}"/>
              </a:ext>
            </a:extLst>
          </p:cNvPr>
          <p:cNvCxnSpPr/>
          <p:nvPr/>
        </p:nvCxnSpPr>
        <p:spPr>
          <a:xfrm>
            <a:off x="5006106" y="4581236"/>
            <a:ext cx="0" cy="1126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3310FFE-9E6B-25A0-E82B-7DA378F64AAC}"/>
              </a:ext>
            </a:extLst>
          </p:cNvPr>
          <p:cNvSpPr txBox="1"/>
          <p:nvPr/>
        </p:nvSpPr>
        <p:spPr>
          <a:xfrm>
            <a:off x="3731491" y="5938981"/>
            <a:ext cx="683491" cy="369332"/>
          </a:xfrm>
          <a:prstGeom prst="rect">
            <a:avLst/>
          </a:prstGeom>
          <a:noFill/>
        </p:spPr>
        <p:txBody>
          <a:bodyPr wrap="square" rtlCol="0">
            <a:spAutoFit/>
          </a:bodyPr>
          <a:lstStyle/>
          <a:p>
            <a:r>
              <a:rPr lang="en-US"/>
              <a:t>3 mil</a:t>
            </a:r>
          </a:p>
        </p:txBody>
      </p:sp>
      <p:cxnSp>
        <p:nvCxnSpPr>
          <p:cNvPr id="20" name="Straight Arrow Connector 19">
            <a:extLst>
              <a:ext uri="{FF2B5EF4-FFF2-40B4-BE49-F238E27FC236}">
                <a16:creationId xmlns:a16="http://schemas.microsoft.com/office/drawing/2014/main" id="{42F71104-77A3-B749-5D43-E651998507FD}"/>
              </a:ext>
            </a:extLst>
          </p:cNvPr>
          <p:cNvCxnSpPr>
            <a:stCxn id="18" idx="3"/>
          </p:cNvCxnSpPr>
          <p:nvPr/>
        </p:nvCxnSpPr>
        <p:spPr>
          <a:xfrm flipV="1">
            <a:off x="4414982" y="5708073"/>
            <a:ext cx="221673" cy="415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E115AE7-04B8-CE46-AD5E-90A519F30CDA}"/>
              </a:ext>
            </a:extLst>
          </p:cNvPr>
          <p:cNvSpPr txBox="1"/>
          <p:nvPr/>
        </p:nvSpPr>
        <p:spPr>
          <a:xfrm>
            <a:off x="4710546" y="6216201"/>
            <a:ext cx="1617102" cy="369332"/>
          </a:xfrm>
          <a:prstGeom prst="rect">
            <a:avLst/>
          </a:prstGeom>
          <a:noFill/>
        </p:spPr>
        <p:txBody>
          <a:bodyPr wrap="square" rtlCol="0">
            <a:spAutoFit/>
          </a:bodyPr>
          <a:lstStyle/>
          <a:p>
            <a:r>
              <a:rPr lang="en-US"/>
              <a:t>6 mil=.0059</a:t>
            </a:r>
            <a:r>
              <a:rPr lang="en-US">
                <a:sym typeface="Symbol" panose="05050102010706020507" pitchFamily="18" charset="2"/>
              </a:rPr>
              <a:t></a:t>
            </a:r>
            <a:endParaRPr lang="en-US"/>
          </a:p>
        </p:txBody>
      </p:sp>
      <p:cxnSp>
        <p:nvCxnSpPr>
          <p:cNvPr id="22" name="Straight Arrow Connector 21">
            <a:extLst>
              <a:ext uri="{FF2B5EF4-FFF2-40B4-BE49-F238E27FC236}">
                <a16:creationId xmlns:a16="http://schemas.microsoft.com/office/drawing/2014/main" id="{6B452749-F90A-C077-0F96-41E7B1615A52}"/>
              </a:ext>
            </a:extLst>
          </p:cNvPr>
          <p:cNvCxnSpPr>
            <a:cxnSpLocks/>
          </p:cNvCxnSpPr>
          <p:nvPr/>
        </p:nvCxnSpPr>
        <p:spPr>
          <a:xfrm flipH="1" flipV="1">
            <a:off x="4844471" y="5806803"/>
            <a:ext cx="87747" cy="409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E878B58-374B-6967-F2D1-44E95D925F3C}"/>
              </a:ext>
            </a:extLst>
          </p:cNvPr>
          <p:cNvSpPr txBox="1"/>
          <p:nvPr/>
        </p:nvSpPr>
        <p:spPr>
          <a:xfrm>
            <a:off x="5086311" y="341833"/>
            <a:ext cx="3993034" cy="369332"/>
          </a:xfrm>
          <a:prstGeom prst="rect">
            <a:avLst/>
          </a:prstGeom>
          <a:noFill/>
        </p:spPr>
        <p:txBody>
          <a:bodyPr wrap="square" rtlCol="0">
            <a:spAutoFit/>
          </a:bodyPr>
          <a:lstStyle/>
          <a:p>
            <a:r>
              <a:rPr lang="en-US"/>
              <a:t>d=.2041 </a:t>
            </a:r>
            <a:r>
              <a:rPr lang="en-US">
                <a:sym typeface="Symbol" panose="05050102010706020507" pitchFamily="18" charset="2"/>
              </a:rPr>
              <a:t> = 205.8961</a:t>
            </a:r>
            <a:r>
              <a:rPr lang="en-US"/>
              <a:t> mil=5.2297 mm</a:t>
            </a:r>
          </a:p>
        </p:txBody>
      </p:sp>
      <p:sp>
        <p:nvSpPr>
          <p:cNvPr id="28" name="TextBox 27">
            <a:extLst>
              <a:ext uri="{FF2B5EF4-FFF2-40B4-BE49-F238E27FC236}">
                <a16:creationId xmlns:a16="http://schemas.microsoft.com/office/drawing/2014/main" id="{EFF2E9D2-82A7-6D10-F8A7-D4F398C63933}"/>
              </a:ext>
            </a:extLst>
          </p:cNvPr>
          <p:cNvSpPr txBox="1"/>
          <p:nvPr/>
        </p:nvSpPr>
        <p:spPr>
          <a:xfrm>
            <a:off x="792021" y="568249"/>
            <a:ext cx="3005818" cy="646331"/>
          </a:xfrm>
          <a:prstGeom prst="rect">
            <a:avLst/>
          </a:prstGeom>
          <a:noFill/>
        </p:spPr>
        <p:txBody>
          <a:bodyPr wrap="square" rtlCol="0">
            <a:spAutoFit/>
          </a:bodyPr>
          <a:lstStyle/>
          <a:p>
            <a:r>
              <a:rPr lang="en-US"/>
              <a:t>f=11.7 GHz</a:t>
            </a:r>
          </a:p>
          <a:p>
            <a:r>
              <a:rPr lang="en-US">
                <a:sym typeface="Symbol" panose="05050102010706020507" pitchFamily="18" charset="2"/>
              </a:rPr>
              <a:t> = 25.6233 mm =1008.8</a:t>
            </a:r>
            <a:r>
              <a:rPr lang="en-US"/>
              <a:t> mil</a:t>
            </a:r>
          </a:p>
        </p:txBody>
      </p:sp>
      <p:cxnSp>
        <p:nvCxnSpPr>
          <p:cNvPr id="29" name="Straight Connector 28">
            <a:extLst>
              <a:ext uri="{FF2B5EF4-FFF2-40B4-BE49-F238E27FC236}">
                <a16:creationId xmlns:a16="http://schemas.microsoft.com/office/drawing/2014/main" id="{29983692-3DF9-BC8C-D7D8-FC6606D1E716}"/>
              </a:ext>
            </a:extLst>
          </p:cNvPr>
          <p:cNvCxnSpPr/>
          <p:nvPr/>
        </p:nvCxnSpPr>
        <p:spPr>
          <a:xfrm>
            <a:off x="8608300" y="4548907"/>
            <a:ext cx="0" cy="1126837"/>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577BA4D-D5DD-FBAE-38AD-8B209C84B9C8}"/>
              </a:ext>
            </a:extLst>
          </p:cNvPr>
          <p:cNvSpPr txBox="1"/>
          <p:nvPr/>
        </p:nvSpPr>
        <p:spPr>
          <a:xfrm>
            <a:off x="5558908" y="5369571"/>
            <a:ext cx="2890148" cy="369332"/>
          </a:xfrm>
          <a:prstGeom prst="rect">
            <a:avLst/>
          </a:prstGeom>
          <a:noFill/>
        </p:spPr>
        <p:txBody>
          <a:bodyPr wrap="square" rtlCol="0">
            <a:spAutoFit/>
          </a:bodyPr>
          <a:lstStyle/>
          <a:p>
            <a:r>
              <a:rPr lang="en-US"/>
              <a:t>4.7726 mm</a:t>
            </a:r>
            <a:r>
              <a:rPr lang="en-US">
                <a:sym typeface="Symbol" panose="05050102010706020507" pitchFamily="18" charset="2"/>
              </a:rPr>
              <a:t> = 187.8961</a:t>
            </a:r>
            <a:r>
              <a:rPr lang="en-US"/>
              <a:t> mil</a:t>
            </a:r>
          </a:p>
        </p:txBody>
      </p:sp>
      <p:cxnSp>
        <p:nvCxnSpPr>
          <p:cNvPr id="32" name="Straight Arrow Connector 31">
            <a:extLst>
              <a:ext uri="{FF2B5EF4-FFF2-40B4-BE49-F238E27FC236}">
                <a16:creationId xmlns:a16="http://schemas.microsoft.com/office/drawing/2014/main" id="{E8112EF2-F988-72E8-AA5B-7F68A9C9DECC}"/>
              </a:ext>
            </a:extLst>
          </p:cNvPr>
          <p:cNvCxnSpPr>
            <a:cxnSpLocks/>
          </p:cNvCxnSpPr>
          <p:nvPr/>
        </p:nvCxnSpPr>
        <p:spPr>
          <a:xfrm>
            <a:off x="8287143" y="5554237"/>
            <a:ext cx="2716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C6ACD40-CBA9-FC48-73C7-3843699C262D}"/>
              </a:ext>
            </a:extLst>
          </p:cNvPr>
          <p:cNvCxnSpPr>
            <a:cxnSpLocks/>
          </p:cNvCxnSpPr>
          <p:nvPr/>
        </p:nvCxnSpPr>
        <p:spPr>
          <a:xfrm flipH="1">
            <a:off x="5033264" y="5569526"/>
            <a:ext cx="6881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DE4FA0F-B339-87C4-0486-74B8DDCD3FD4}"/>
              </a:ext>
            </a:extLst>
          </p:cNvPr>
          <p:cNvSpPr txBox="1"/>
          <p:nvPr/>
        </p:nvSpPr>
        <p:spPr>
          <a:xfrm>
            <a:off x="9436608" y="568249"/>
            <a:ext cx="2395728" cy="1323439"/>
          </a:xfrm>
          <a:prstGeom prst="rect">
            <a:avLst/>
          </a:prstGeom>
          <a:noFill/>
        </p:spPr>
        <p:txBody>
          <a:bodyPr wrap="square" rtlCol="0">
            <a:spAutoFit/>
          </a:bodyPr>
          <a:lstStyle/>
          <a:p>
            <a:r>
              <a:rPr lang="en-US" sz="4000"/>
              <a:t>Unit Cell </a:t>
            </a:r>
          </a:p>
          <a:p>
            <a:r>
              <a:rPr lang="en-US" sz="4000"/>
              <a:t>(top view)</a:t>
            </a:r>
          </a:p>
        </p:txBody>
      </p:sp>
      <p:sp>
        <p:nvSpPr>
          <p:cNvPr id="3" name="Slide Number Placeholder 2">
            <a:extLst>
              <a:ext uri="{FF2B5EF4-FFF2-40B4-BE49-F238E27FC236}">
                <a16:creationId xmlns:a16="http://schemas.microsoft.com/office/drawing/2014/main" id="{9EA779FA-27DE-31A9-6131-345D6680E5A3}"/>
              </a:ext>
            </a:extLst>
          </p:cNvPr>
          <p:cNvSpPr>
            <a:spLocks noGrp="1"/>
          </p:cNvSpPr>
          <p:nvPr>
            <p:ph type="sldNum" sz="quarter" idx="12"/>
          </p:nvPr>
        </p:nvSpPr>
        <p:spPr/>
        <p:txBody>
          <a:bodyPr/>
          <a:lstStyle/>
          <a:p>
            <a:fld id="{4FBFB357-CE14-459F-A328-DF90B1D0644A}" type="slidenum">
              <a:rPr lang="en-US" smtClean="0"/>
              <a:t>12</a:t>
            </a:fld>
            <a:endParaRPr lang="en-US"/>
          </a:p>
        </p:txBody>
      </p:sp>
    </p:spTree>
    <p:extLst>
      <p:ext uri="{BB962C8B-B14F-4D97-AF65-F5344CB8AC3E}">
        <p14:creationId xmlns:p14="http://schemas.microsoft.com/office/powerpoint/2010/main" val="3006590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3" name="Rectangle 2102">
            <a:extLst>
              <a:ext uri="{FF2B5EF4-FFF2-40B4-BE49-F238E27FC236}">
                <a16:creationId xmlns:a16="http://schemas.microsoft.com/office/drawing/2014/main" id="{FEFF5B33-E3E0-5BA9-712D-FB342BFD9FD6}"/>
              </a:ext>
            </a:extLst>
          </p:cNvPr>
          <p:cNvSpPr/>
          <p:nvPr/>
        </p:nvSpPr>
        <p:spPr>
          <a:xfrm>
            <a:off x="1596842" y="2065171"/>
            <a:ext cx="5756988" cy="19828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4" name="Rectangle 2103">
            <a:extLst>
              <a:ext uri="{FF2B5EF4-FFF2-40B4-BE49-F238E27FC236}">
                <a16:creationId xmlns:a16="http://schemas.microsoft.com/office/drawing/2014/main" id="{C7FB0461-61FF-39FA-2EE6-D8F7C041F0CC}"/>
              </a:ext>
            </a:extLst>
          </p:cNvPr>
          <p:cNvSpPr/>
          <p:nvPr/>
        </p:nvSpPr>
        <p:spPr>
          <a:xfrm>
            <a:off x="1596842" y="2894816"/>
            <a:ext cx="5756988" cy="19828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5" name="Rectangle 2104">
            <a:extLst>
              <a:ext uri="{FF2B5EF4-FFF2-40B4-BE49-F238E27FC236}">
                <a16:creationId xmlns:a16="http://schemas.microsoft.com/office/drawing/2014/main" id="{D9FC9EA4-6238-6CCF-4350-3396E3D8899C}"/>
              </a:ext>
            </a:extLst>
          </p:cNvPr>
          <p:cNvSpPr/>
          <p:nvPr/>
        </p:nvSpPr>
        <p:spPr>
          <a:xfrm>
            <a:off x="1596842" y="3762184"/>
            <a:ext cx="5756988" cy="19828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F335C48-2CC6-C41A-BB86-5B914AF0736F}"/>
              </a:ext>
            </a:extLst>
          </p:cNvPr>
          <p:cNvSpPr/>
          <p:nvPr/>
        </p:nvSpPr>
        <p:spPr>
          <a:xfrm>
            <a:off x="1596842" y="1419807"/>
            <a:ext cx="5756988" cy="6344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6" name="Rectangle 2095">
            <a:extLst>
              <a:ext uri="{FF2B5EF4-FFF2-40B4-BE49-F238E27FC236}">
                <a16:creationId xmlns:a16="http://schemas.microsoft.com/office/drawing/2014/main" id="{5479F245-E4E9-1B1B-737C-BD4BDE4AC508}"/>
              </a:ext>
            </a:extLst>
          </p:cNvPr>
          <p:cNvSpPr/>
          <p:nvPr/>
        </p:nvSpPr>
        <p:spPr>
          <a:xfrm rot="5400000">
            <a:off x="4447344" y="-59067"/>
            <a:ext cx="55984"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 name="Rectangle 2096">
            <a:extLst>
              <a:ext uri="{FF2B5EF4-FFF2-40B4-BE49-F238E27FC236}">
                <a16:creationId xmlns:a16="http://schemas.microsoft.com/office/drawing/2014/main" id="{95339CA9-D302-4E76-8C8D-B6EA66F4A0FC}"/>
              </a:ext>
            </a:extLst>
          </p:cNvPr>
          <p:cNvSpPr/>
          <p:nvPr/>
        </p:nvSpPr>
        <p:spPr>
          <a:xfrm>
            <a:off x="1596842" y="2265783"/>
            <a:ext cx="5756988" cy="6344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8" name="Rectangle 2097">
            <a:extLst>
              <a:ext uri="{FF2B5EF4-FFF2-40B4-BE49-F238E27FC236}">
                <a16:creationId xmlns:a16="http://schemas.microsoft.com/office/drawing/2014/main" id="{D0F1A829-48F4-5555-A011-3C01B420238D}"/>
              </a:ext>
            </a:extLst>
          </p:cNvPr>
          <p:cNvSpPr/>
          <p:nvPr/>
        </p:nvSpPr>
        <p:spPr>
          <a:xfrm>
            <a:off x="1596842" y="3111759"/>
            <a:ext cx="5756988" cy="6344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9" name="Rectangle 2098">
            <a:extLst>
              <a:ext uri="{FF2B5EF4-FFF2-40B4-BE49-F238E27FC236}">
                <a16:creationId xmlns:a16="http://schemas.microsoft.com/office/drawing/2014/main" id="{10766384-7268-642B-055B-169D94D8A8AB}"/>
              </a:ext>
            </a:extLst>
          </p:cNvPr>
          <p:cNvSpPr/>
          <p:nvPr/>
        </p:nvSpPr>
        <p:spPr>
          <a:xfrm>
            <a:off x="1596842" y="3957735"/>
            <a:ext cx="5756988" cy="6344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0" name="Rectangle 2099">
            <a:extLst>
              <a:ext uri="{FF2B5EF4-FFF2-40B4-BE49-F238E27FC236}">
                <a16:creationId xmlns:a16="http://schemas.microsoft.com/office/drawing/2014/main" id="{191C5FC3-A958-2B83-E548-8BEEF1A882DC}"/>
              </a:ext>
            </a:extLst>
          </p:cNvPr>
          <p:cNvSpPr/>
          <p:nvPr/>
        </p:nvSpPr>
        <p:spPr>
          <a:xfrm rot="5400000">
            <a:off x="4459781" y="793134"/>
            <a:ext cx="55984"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1" name="Rectangle 2100">
            <a:extLst>
              <a:ext uri="{FF2B5EF4-FFF2-40B4-BE49-F238E27FC236}">
                <a16:creationId xmlns:a16="http://schemas.microsoft.com/office/drawing/2014/main" id="{610302E8-8547-4CD1-E206-60B8D0E533FB}"/>
              </a:ext>
            </a:extLst>
          </p:cNvPr>
          <p:cNvSpPr/>
          <p:nvPr/>
        </p:nvSpPr>
        <p:spPr>
          <a:xfrm rot="5400000">
            <a:off x="4490882" y="1626670"/>
            <a:ext cx="55984"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2" name="Rectangle 2101">
            <a:extLst>
              <a:ext uri="{FF2B5EF4-FFF2-40B4-BE49-F238E27FC236}">
                <a16:creationId xmlns:a16="http://schemas.microsoft.com/office/drawing/2014/main" id="{1D47A56C-3E5F-54A2-2204-8A53AC1A7AB4}"/>
              </a:ext>
            </a:extLst>
          </p:cNvPr>
          <p:cNvSpPr/>
          <p:nvPr/>
        </p:nvSpPr>
        <p:spPr>
          <a:xfrm rot="5400000">
            <a:off x="4512650" y="2478859"/>
            <a:ext cx="55984"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07" name="Straight Connector 2106">
            <a:extLst>
              <a:ext uri="{FF2B5EF4-FFF2-40B4-BE49-F238E27FC236}">
                <a16:creationId xmlns:a16="http://schemas.microsoft.com/office/drawing/2014/main" id="{E191CDA3-34CB-A50A-7C4F-49E9F9A4C63F}"/>
              </a:ext>
            </a:extLst>
          </p:cNvPr>
          <p:cNvCxnSpPr/>
          <p:nvPr/>
        </p:nvCxnSpPr>
        <p:spPr>
          <a:xfrm>
            <a:off x="7353830" y="1342059"/>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9FD1C162-1D67-D4E3-77F6-3F7756175752}"/>
              </a:ext>
            </a:extLst>
          </p:cNvPr>
          <p:cNvCxnSpPr/>
          <p:nvPr/>
        </p:nvCxnSpPr>
        <p:spPr>
          <a:xfrm>
            <a:off x="7384931" y="1419811"/>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A594B9F2-7D52-7A4A-E88A-9D364E1663E1}"/>
              </a:ext>
            </a:extLst>
          </p:cNvPr>
          <p:cNvCxnSpPr/>
          <p:nvPr/>
        </p:nvCxnSpPr>
        <p:spPr>
          <a:xfrm>
            <a:off x="7406699" y="2029415"/>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DED60CB2-0FDD-A5EE-DEA3-37F7C79F32EF}"/>
              </a:ext>
            </a:extLst>
          </p:cNvPr>
          <p:cNvCxnSpPr/>
          <p:nvPr/>
        </p:nvCxnSpPr>
        <p:spPr>
          <a:xfrm>
            <a:off x="7428465" y="2256463"/>
            <a:ext cx="1039302" cy="0"/>
          </a:xfrm>
          <a:prstGeom prst="line">
            <a:avLst/>
          </a:prstGeom>
        </p:spPr>
        <p:style>
          <a:lnRef idx="1">
            <a:schemeClr val="accent1"/>
          </a:lnRef>
          <a:fillRef idx="0">
            <a:schemeClr val="accent1"/>
          </a:fillRef>
          <a:effectRef idx="0">
            <a:schemeClr val="accent1"/>
          </a:effectRef>
          <a:fontRef idx="minor">
            <a:schemeClr val="tx1"/>
          </a:fontRef>
        </p:style>
      </p:cxnSp>
      <p:sp>
        <p:nvSpPr>
          <p:cNvPr id="2111" name="TextBox 2110">
            <a:extLst>
              <a:ext uri="{FF2B5EF4-FFF2-40B4-BE49-F238E27FC236}">
                <a16:creationId xmlns:a16="http://schemas.microsoft.com/office/drawing/2014/main" id="{61CE43DD-B76E-F144-8CBD-E2E98BF6C405}"/>
              </a:ext>
            </a:extLst>
          </p:cNvPr>
          <p:cNvSpPr txBox="1"/>
          <p:nvPr/>
        </p:nvSpPr>
        <p:spPr>
          <a:xfrm>
            <a:off x="8626398" y="1168275"/>
            <a:ext cx="1531775" cy="369332"/>
          </a:xfrm>
          <a:prstGeom prst="rect">
            <a:avLst/>
          </a:prstGeom>
          <a:noFill/>
        </p:spPr>
        <p:txBody>
          <a:bodyPr wrap="square" rtlCol="0">
            <a:spAutoFit/>
          </a:bodyPr>
          <a:lstStyle/>
          <a:p>
            <a:r>
              <a:rPr lang="en-US"/>
              <a:t>.018 mm</a:t>
            </a:r>
          </a:p>
        </p:txBody>
      </p:sp>
      <p:sp>
        <p:nvSpPr>
          <p:cNvPr id="2112" name="TextBox 2111">
            <a:extLst>
              <a:ext uri="{FF2B5EF4-FFF2-40B4-BE49-F238E27FC236}">
                <a16:creationId xmlns:a16="http://schemas.microsoft.com/office/drawing/2014/main" id="{00242E86-EE5E-423C-0C58-33F11B78003F}"/>
              </a:ext>
            </a:extLst>
          </p:cNvPr>
          <p:cNvSpPr txBox="1"/>
          <p:nvPr/>
        </p:nvSpPr>
        <p:spPr>
          <a:xfrm>
            <a:off x="8296214" y="1518949"/>
            <a:ext cx="4076178" cy="369332"/>
          </a:xfrm>
          <a:prstGeom prst="rect">
            <a:avLst/>
          </a:prstGeom>
          <a:noFill/>
        </p:spPr>
        <p:txBody>
          <a:bodyPr wrap="square" rtlCol="0">
            <a:spAutoFit/>
          </a:bodyPr>
          <a:lstStyle/>
          <a:p>
            <a:r>
              <a:rPr lang="en-US"/>
              <a:t>30 mil = .762 mm = 0.0297</a:t>
            </a:r>
            <a:r>
              <a:rPr lang="en-US">
                <a:sym typeface="Symbol" panose="05050102010706020507" pitchFamily="18" charset="2"/>
              </a:rPr>
              <a:t></a:t>
            </a:r>
            <a:endParaRPr lang="en-US"/>
          </a:p>
        </p:txBody>
      </p:sp>
      <p:sp>
        <p:nvSpPr>
          <p:cNvPr id="2114" name="TextBox 2113">
            <a:extLst>
              <a:ext uri="{FF2B5EF4-FFF2-40B4-BE49-F238E27FC236}">
                <a16:creationId xmlns:a16="http://schemas.microsoft.com/office/drawing/2014/main" id="{CA5AEEB1-48D6-DF22-8D4C-F6E8E50EC3C4}"/>
              </a:ext>
            </a:extLst>
          </p:cNvPr>
          <p:cNvSpPr txBox="1"/>
          <p:nvPr/>
        </p:nvSpPr>
        <p:spPr>
          <a:xfrm>
            <a:off x="8296214" y="1933772"/>
            <a:ext cx="4076178" cy="369332"/>
          </a:xfrm>
          <a:prstGeom prst="rect">
            <a:avLst/>
          </a:prstGeom>
          <a:noFill/>
        </p:spPr>
        <p:txBody>
          <a:bodyPr wrap="square" rtlCol="0">
            <a:spAutoFit/>
          </a:bodyPr>
          <a:lstStyle/>
          <a:p>
            <a:r>
              <a:rPr lang="en-US"/>
              <a:t>2 mil = .0508 mm = 0.0020</a:t>
            </a:r>
            <a:r>
              <a:rPr lang="en-US">
                <a:sym typeface="Symbol" panose="05050102010706020507" pitchFamily="18" charset="2"/>
              </a:rPr>
              <a:t></a:t>
            </a:r>
            <a:endParaRPr lang="en-US"/>
          </a:p>
        </p:txBody>
      </p:sp>
      <p:sp>
        <p:nvSpPr>
          <p:cNvPr id="2116" name="TextBox 2115">
            <a:extLst>
              <a:ext uri="{FF2B5EF4-FFF2-40B4-BE49-F238E27FC236}">
                <a16:creationId xmlns:a16="http://schemas.microsoft.com/office/drawing/2014/main" id="{31C39E65-4704-EA53-4476-637CD06FD40B}"/>
              </a:ext>
            </a:extLst>
          </p:cNvPr>
          <p:cNvSpPr txBox="1"/>
          <p:nvPr/>
        </p:nvSpPr>
        <p:spPr>
          <a:xfrm>
            <a:off x="2481944" y="2303104"/>
            <a:ext cx="606490" cy="369332"/>
          </a:xfrm>
          <a:prstGeom prst="rect">
            <a:avLst/>
          </a:prstGeom>
          <a:noFill/>
        </p:spPr>
        <p:txBody>
          <a:bodyPr wrap="square" rtlCol="0">
            <a:spAutoFit/>
          </a:bodyPr>
          <a:lstStyle/>
          <a:p>
            <a:r>
              <a:rPr lang="en-US"/>
              <a:t>PCB</a:t>
            </a:r>
          </a:p>
        </p:txBody>
      </p:sp>
      <p:sp>
        <p:nvSpPr>
          <p:cNvPr id="2117" name="TextBox 2116">
            <a:extLst>
              <a:ext uri="{FF2B5EF4-FFF2-40B4-BE49-F238E27FC236}">
                <a16:creationId xmlns:a16="http://schemas.microsoft.com/office/drawing/2014/main" id="{4A1487E1-0175-6A15-98DE-6C3C4454E559}"/>
              </a:ext>
            </a:extLst>
          </p:cNvPr>
          <p:cNvSpPr txBox="1"/>
          <p:nvPr/>
        </p:nvSpPr>
        <p:spPr>
          <a:xfrm>
            <a:off x="4282750" y="2321767"/>
            <a:ext cx="1632585" cy="369332"/>
          </a:xfrm>
          <a:prstGeom prst="rect">
            <a:avLst/>
          </a:prstGeom>
          <a:noFill/>
        </p:spPr>
        <p:txBody>
          <a:bodyPr wrap="square" rtlCol="0">
            <a:spAutoFit/>
          </a:bodyPr>
          <a:lstStyle/>
          <a:p>
            <a:r>
              <a:rPr lang="en-US">
                <a:sym typeface="Symbol" panose="05050102010706020507" pitchFamily="18" charset="2"/>
              </a:rPr>
              <a:t>=3, tan=.001</a:t>
            </a:r>
            <a:endParaRPr lang="en-US"/>
          </a:p>
        </p:txBody>
      </p:sp>
      <p:sp>
        <p:nvSpPr>
          <p:cNvPr id="2118" name="TextBox 2117">
            <a:extLst>
              <a:ext uri="{FF2B5EF4-FFF2-40B4-BE49-F238E27FC236}">
                <a16:creationId xmlns:a16="http://schemas.microsoft.com/office/drawing/2014/main" id="{E6637E59-4BC8-2F60-C504-4B7832FBE4CB}"/>
              </a:ext>
            </a:extLst>
          </p:cNvPr>
          <p:cNvSpPr txBox="1"/>
          <p:nvPr/>
        </p:nvSpPr>
        <p:spPr>
          <a:xfrm>
            <a:off x="2522375" y="2819401"/>
            <a:ext cx="606490" cy="369332"/>
          </a:xfrm>
          <a:prstGeom prst="rect">
            <a:avLst/>
          </a:prstGeom>
          <a:noFill/>
        </p:spPr>
        <p:txBody>
          <a:bodyPr wrap="square" rtlCol="0">
            <a:spAutoFit/>
          </a:bodyPr>
          <a:lstStyle/>
          <a:p>
            <a:r>
              <a:rPr lang="en-US"/>
              <a:t>glue</a:t>
            </a:r>
          </a:p>
        </p:txBody>
      </p:sp>
      <p:sp>
        <p:nvSpPr>
          <p:cNvPr id="2119" name="TextBox 2118">
            <a:extLst>
              <a:ext uri="{FF2B5EF4-FFF2-40B4-BE49-F238E27FC236}">
                <a16:creationId xmlns:a16="http://schemas.microsoft.com/office/drawing/2014/main" id="{C0AB244A-98B9-052C-33A8-1CA3DFB9D558}"/>
              </a:ext>
            </a:extLst>
          </p:cNvPr>
          <p:cNvSpPr txBox="1"/>
          <p:nvPr/>
        </p:nvSpPr>
        <p:spPr>
          <a:xfrm>
            <a:off x="5797423" y="2838064"/>
            <a:ext cx="1632585" cy="369332"/>
          </a:xfrm>
          <a:prstGeom prst="rect">
            <a:avLst/>
          </a:prstGeom>
          <a:noFill/>
        </p:spPr>
        <p:txBody>
          <a:bodyPr wrap="square" rtlCol="0">
            <a:spAutoFit/>
          </a:bodyPr>
          <a:lstStyle/>
          <a:p>
            <a:r>
              <a:rPr lang="en-US">
                <a:sym typeface="Symbol" panose="05050102010706020507" pitchFamily="18" charset="2"/>
              </a:rPr>
              <a:t>=3, tan=.001</a:t>
            </a:r>
            <a:endParaRPr lang="en-US"/>
          </a:p>
        </p:txBody>
      </p:sp>
      <p:cxnSp>
        <p:nvCxnSpPr>
          <p:cNvPr id="2120" name="Straight Connector 2119">
            <a:extLst>
              <a:ext uri="{FF2B5EF4-FFF2-40B4-BE49-F238E27FC236}">
                <a16:creationId xmlns:a16="http://schemas.microsoft.com/office/drawing/2014/main" id="{055D99B1-B30F-862E-DD03-AF2320CDFB13}"/>
              </a:ext>
            </a:extLst>
          </p:cNvPr>
          <p:cNvCxnSpPr/>
          <p:nvPr/>
        </p:nvCxnSpPr>
        <p:spPr>
          <a:xfrm>
            <a:off x="7565330" y="3124204"/>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CB44ADF0-A9D3-D1DA-D73C-EDD2C6A6182B}"/>
              </a:ext>
            </a:extLst>
          </p:cNvPr>
          <p:cNvCxnSpPr/>
          <p:nvPr/>
        </p:nvCxnSpPr>
        <p:spPr>
          <a:xfrm>
            <a:off x="7587096" y="3911090"/>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21344147-9326-112F-D987-4A376F62EF2B}"/>
              </a:ext>
            </a:extLst>
          </p:cNvPr>
          <p:cNvCxnSpPr/>
          <p:nvPr/>
        </p:nvCxnSpPr>
        <p:spPr>
          <a:xfrm>
            <a:off x="7559099" y="2181815"/>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2D427F76-18D1-160B-AE73-9653902A71BC}"/>
              </a:ext>
            </a:extLst>
          </p:cNvPr>
          <p:cNvCxnSpPr/>
          <p:nvPr/>
        </p:nvCxnSpPr>
        <p:spPr>
          <a:xfrm>
            <a:off x="7580865" y="2408863"/>
            <a:ext cx="1039302"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108602D-38C0-8203-4E43-FEEF30200C1D}"/>
              </a:ext>
            </a:extLst>
          </p:cNvPr>
          <p:cNvSpPr/>
          <p:nvPr/>
        </p:nvSpPr>
        <p:spPr>
          <a:xfrm rot="5400000">
            <a:off x="4512650" y="3174184"/>
            <a:ext cx="55984" cy="2880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B7A78C-8D3D-F9B9-D1F1-61B2920A457F}"/>
              </a:ext>
            </a:extLst>
          </p:cNvPr>
          <p:cNvCxnSpPr/>
          <p:nvPr/>
        </p:nvCxnSpPr>
        <p:spPr>
          <a:xfrm>
            <a:off x="373955" y="1461803"/>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751858F-BA8A-F101-90EB-5053AEF78C1E}"/>
              </a:ext>
            </a:extLst>
          </p:cNvPr>
          <p:cNvCxnSpPr/>
          <p:nvPr/>
        </p:nvCxnSpPr>
        <p:spPr>
          <a:xfrm>
            <a:off x="373955" y="4586192"/>
            <a:ext cx="10393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8143E90-A535-9485-0746-05AFA602A26B}"/>
              </a:ext>
            </a:extLst>
          </p:cNvPr>
          <p:cNvCxnSpPr/>
          <p:nvPr/>
        </p:nvCxnSpPr>
        <p:spPr>
          <a:xfrm flipV="1">
            <a:off x="933450" y="1461803"/>
            <a:ext cx="0" cy="720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B5641ED-AD8A-B045-C563-8AC55A6F96C9}"/>
              </a:ext>
            </a:extLst>
          </p:cNvPr>
          <p:cNvCxnSpPr/>
          <p:nvPr/>
        </p:nvCxnSpPr>
        <p:spPr>
          <a:xfrm>
            <a:off x="1028700" y="3957735"/>
            <a:ext cx="0" cy="628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990A388-2C4E-9A92-3891-EE54804278AE}"/>
              </a:ext>
            </a:extLst>
          </p:cNvPr>
          <p:cNvSpPr txBox="1"/>
          <p:nvPr/>
        </p:nvSpPr>
        <p:spPr>
          <a:xfrm>
            <a:off x="266702" y="2511290"/>
            <a:ext cx="1383068" cy="923330"/>
          </a:xfrm>
          <a:prstGeom prst="rect">
            <a:avLst/>
          </a:prstGeom>
          <a:noFill/>
        </p:spPr>
        <p:txBody>
          <a:bodyPr wrap="square" rtlCol="0">
            <a:spAutoFit/>
          </a:bodyPr>
          <a:lstStyle/>
          <a:p>
            <a:r>
              <a:rPr lang="en-US"/>
              <a:t>126 mil</a:t>
            </a:r>
          </a:p>
          <a:p>
            <a:r>
              <a:rPr lang="en-US"/>
              <a:t>=3.2004 mm</a:t>
            </a:r>
          </a:p>
          <a:p>
            <a:r>
              <a:rPr lang="en-US"/>
              <a:t>=.1249</a:t>
            </a:r>
            <a:r>
              <a:rPr lang="en-US">
                <a:sym typeface="Symbol" panose="05050102010706020507" pitchFamily="18" charset="2"/>
              </a:rPr>
              <a:t></a:t>
            </a:r>
            <a:endParaRPr lang="en-US"/>
          </a:p>
        </p:txBody>
      </p:sp>
      <p:sp>
        <p:nvSpPr>
          <p:cNvPr id="6" name="TextBox 5">
            <a:extLst>
              <a:ext uri="{FF2B5EF4-FFF2-40B4-BE49-F238E27FC236}">
                <a16:creationId xmlns:a16="http://schemas.microsoft.com/office/drawing/2014/main" id="{4CD65707-3E79-6DDD-D6E6-96E9E8052F5E}"/>
              </a:ext>
            </a:extLst>
          </p:cNvPr>
          <p:cNvSpPr txBox="1"/>
          <p:nvPr/>
        </p:nvSpPr>
        <p:spPr>
          <a:xfrm>
            <a:off x="792021" y="568249"/>
            <a:ext cx="3005818" cy="646331"/>
          </a:xfrm>
          <a:prstGeom prst="rect">
            <a:avLst/>
          </a:prstGeom>
          <a:noFill/>
        </p:spPr>
        <p:txBody>
          <a:bodyPr wrap="square" rtlCol="0">
            <a:spAutoFit/>
          </a:bodyPr>
          <a:lstStyle/>
          <a:p>
            <a:r>
              <a:rPr lang="en-US"/>
              <a:t>f=11.7 GHz</a:t>
            </a:r>
          </a:p>
          <a:p>
            <a:r>
              <a:rPr lang="en-US">
                <a:sym typeface="Symbol" panose="05050102010706020507" pitchFamily="18" charset="2"/>
              </a:rPr>
              <a:t> = 25.6233 mm =1008.8</a:t>
            </a:r>
            <a:r>
              <a:rPr lang="en-US"/>
              <a:t> mil</a:t>
            </a:r>
          </a:p>
        </p:txBody>
      </p:sp>
      <p:cxnSp>
        <p:nvCxnSpPr>
          <p:cNvPr id="11" name="Straight Arrow Connector 10">
            <a:extLst>
              <a:ext uri="{FF2B5EF4-FFF2-40B4-BE49-F238E27FC236}">
                <a16:creationId xmlns:a16="http://schemas.microsoft.com/office/drawing/2014/main" id="{6BA9303A-4967-6D4E-1C4A-D1ADACB3C8B8}"/>
              </a:ext>
            </a:extLst>
          </p:cNvPr>
          <p:cNvCxnSpPr/>
          <p:nvPr/>
        </p:nvCxnSpPr>
        <p:spPr>
          <a:xfrm>
            <a:off x="4725909" y="307818"/>
            <a:ext cx="0" cy="860457"/>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D585704-B43F-0D6F-4B10-9C8178F5998A}"/>
              </a:ext>
            </a:extLst>
          </p:cNvPr>
          <p:cNvSpPr txBox="1"/>
          <p:nvPr/>
        </p:nvSpPr>
        <p:spPr>
          <a:xfrm>
            <a:off x="4934139" y="461727"/>
            <a:ext cx="1729211" cy="369332"/>
          </a:xfrm>
          <a:prstGeom prst="rect">
            <a:avLst/>
          </a:prstGeom>
          <a:noFill/>
        </p:spPr>
        <p:txBody>
          <a:bodyPr wrap="square" rtlCol="0">
            <a:spAutoFit/>
          </a:bodyPr>
          <a:lstStyle/>
          <a:p>
            <a:r>
              <a:rPr lang="en-US"/>
              <a:t>Incident wave</a:t>
            </a:r>
          </a:p>
        </p:txBody>
      </p:sp>
      <p:sp>
        <p:nvSpPr>
          <p:cNvPr id="8" name="TextBox 7">
            <a:extLst>
              <a:ext uri="{FF2B5EF4-FFF2-40B4-BE49-F238E27FC236}">
                <a16:creationId xmlns:a16="http://schemas.microsoft.com/office/drawing/2014/main" id="{71A89379-3EEE-8A1C-A01F-FE0B42B89CEC}"/>
              </a:ext>
            </a:extLst>
          </p:cNvPr>
          <p:cNvSpPr txBox="1"/>
          <p:nvPr/>
        </p:nvSpPr>
        <p:spPr>
          <a:xfrm>
            <a:off x="9317736" y="2842681"/>
            <a:ext cx="2607562" cy="1323439"/>
          </a:xfrm>
          <a:prstGeom prst="rect">
            <a:avLst/>
          </a:prstGeom>
          <a:noFill/>
        </p:spPr>
        <p:txBody>
          <a:bodyPr wrap="square" rtlCol="0">
            <a:spAutoFit/>
          </a:bodyPr>
          <a:lstStyle/>
          <a:p>
            <a:r>
              <a:rPr lang="en-US" sz="4000"/>
              <a:t>Unit Cell </a:t>
            </a:r>
          </a:p>
          <a:p>
            <a:r>
              <a:rPr lang="en-US" sz="4000"/>
              <a:t>(side view)</a:t>
            </a:r>
          </a:p>
        </p:txBody>
      </p:sp>
      <p:sp>
        <p:nvSpPr>
          <p:cNvPr id="13" name="Slide Number Placeholder 12">
            <a:extLst>
              <a:ext uri="{FF2B5EF4-FFF2-40B4-BE49-F238E27FC236}">
                <a16:creationId xmlns:a16="http://schemas.microsoft.com/office/drawing/2014/main" id="{4FA38374-1F13-EF30-4715-1343C2E9FF9F}"/>
              </a:ext>
            </a:extLst>
          </p:cNvPr>
          <p:cNvSpPr>
            <a:spLocks noGrp="1"/>
          </p:cNvSpPr>
          <p:nvPr>
            <p:ph type="sldNum" sz="quarter" idx="12"/>
          </p:nvPr>
        </p:nvSpPr>
        <p:spPr/>
        <p:txBody>
          <a:bodyPr/>
          <a:lstStyle/>
          <a:p>
            <a:fld id="{4FBFB357-CE14-459F-A328-DF90B1D0644A}" type="slidenum">
              <a:rPr lang="en-US" smtClean="0"/>
              <a:t>13</a:t>
            </a:fld>
            <a:endParaRPr lang="en-US"/>
          </a:p>
        </p:txBody>
      </p:sp>
    </p:spTree>
    <p:extLst>
      <p:ext uri="{BB962C8B-B14F-4D97-AF65-F5344CB8AC3E}">
        <p14:creationId xmlns:p14="http://schemas.microsoft.com/office/powerpoint/2010/main" val="2652430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31626</TotalTime>
  <Words>1274</Words>
  <Application>Microsoft Office PowerPoint</Application>
  <PresentationFormat>Widescreen</PresentationFormat>
  <Paragraphs>85</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Symbol</vt:lpstr>
      <vt:lpstr>Office Theme</vt:lpstr>
      <vt:lpstr>Layers Program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Sherman Marcus</dc:creator>
  <cp:lastModifiedBy>Sherman Marcus</cp:lastModifiedBy>
  <cp:revision>1</cp:revision>
  <dcterms:created xsi:type="dcterms:W3CDTF">2023-04-17T04:13:22Z</dcterms:created>
  <dcterms:modified xsi:type="dcterms:W3CDTF">2026-01-06T20:01:27Z</dcterms:modified>
</cp:coreProperties>
</file>